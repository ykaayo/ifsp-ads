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aí, pessoal! Sejam bem-vindos à nossa conversa sobre Swift, a linguagem que a Apple fez questão de batizar com um nome que já entrega a proposta. O futuro do desenvolvimento mobile, e não só mobile, começa por aqui. A Swift não é só mais uma linguagem; ela é a resposta da Apple para um ecossistema que precisava de mais performance, segurança e, vamos ser sinceros, menos dor de cabeça. Ela veio pra ser a sucessora do Objective-C, que era tipo aquele tiozão legal, mas que falava demais. Vamos ver como essa linguagem se tornou o padrão ouro para apps modernos.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Então, de onde veio essa tal de Swift? A Apple olhou para o Objective-C e pensou: 'dá pra complicar menos isso aqui'. Ela foi lançada em 2014, na WWDC, e o propósito era claro: substituir a verbosidade e os perigos do Objective-C. A grande sacada foi que, em 2015, ela se tornou Open Source, expandindo seus horizontes muito além do jardim murado da Apple. É uma linguagem com sintaxe limpa que parece script, mas tem o poder de uma linguagem compilada. E isso, meus amigos, é uma combinação poderosa.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Continuando a nossa jornada, vamos mergulhar no DNA da Swift. Ela tenta evitar que você destrua seu próprio código, ao contrário de outras linguagens que simplesmente assistem ao caos acontecer. A Swift é focada em segurança de tipos, o compilador é seu melhor amigo, mas também o mais rigoroso. Em termos de performance, ela é compilada usando LLVM, batendo de frente com C++. E o mais legal é que ela suporta Programação Orientada a Objetos e Funcional, e ainda convive harmoniosamente com aquele código Objective-C legado. É como ter um assistente que avisa que você vai fazer bobagem antes mesmo de você rodar o código. Agora, vamos ver como essa simplicidade se traduz na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por falar em simplicidade, preparem-se para o 'Hello World' mais direto que vocês já viram. Enquanto algumas linguagens pedem um ritual completo pra imprimir texto, Swift resolve isso em uma linha. Não precisa de 'main', 'class' ou rituais complexos para começar. É só um 'print("Hello, World!")' e pronto. A sintaxe é moderna, expressiva e fácil de ler para nós, humanos. Menos código significa menos bugs e manutenção mais fácil, e isso é música para os ouvidos de qualquer desenvolvedor. Mas não é só de código que vive um bom desenvolvedor, né? A forma como nomeamos as coisas também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é exatamente sobre a arte de nomear que vamos falar agora. Código limpo não é opcional na comunidade Apple, é o padrão esperado. Usamos camelCase para variáveis, constantes e funções, com a primeira letra minúscula. Já para tipos, como Structs, Classes e Enums, usamos PascalCase, com a primeira letra maiúscula. A regra de ouro é: clareza é mais importante que brevidade. Prefira 'userRegistrationDate' a 'usrRegDt'. Se você precisa de um comentário para explicar o nome de uma variável, o nome provavelmente está ruim. E tudo isso segue os 'Swift API Design Guidelines' da Apple. Mas as boas práticas não param por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Depois de falarmos sobre como nomear as coisas, vamos para as boas práticas que separam os meninos dos homens, ou melhor, os juniores dos seniores. Se você usa force unwrap em tudo, o problema não é o compilador, é a sua confiança em excesso. Primeiro, use 'let' por padrão. Isso não é só uma questão de estilo, mas ajuda o compilador a otimizar seu código, tornando-o mais eficiente. Segundo, escreva funções pequenas e focadas. Se você precisa de um comentário para explicar o que uma função faz, ela provavelmente está complexa demais e precisa ser quebrada. E por último, mas não menos importante, abrace a segurança dos Optionals. Usar 'if let' ou 'guard let' evita que seu aplicativo feche na cara do usuário, o que é sempre uma boa prática. Agora que sabemos como escrever um bom código, vamos ver onde ele pode rodar.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que sabemos como escrever um bom código, vamos ver onde ele pode rodar. Se tem uma maçã estampada, provavelmente dá pra usar Swift. A Swift é a linguagem nativa para todo o ecossistema Apple: iOS, iPadOS, macOS, watchOS, tvOS e até o novo visionOS. Mas a mágica não para por aí. Com frameworks como o Vapor, você pode levar a Swift para o backend, construindo APIs robustas e seguras. Isso significa que a mesma linguagem que você usa para o app pode ser usada para o servidor, simplificando o desenvolvimento. Com um ecossistema tão vasto, a pergunta que fica é: vale a pena investir nessa carreira?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um ecossistema tão vasto, a pergunta que fica é: vale a pena investir nessa carreira? A resposta é um sonoro sim. Existe uma alta demanda por desenvolvedores Swift, especialmente em empresas que buscam experiências nativas de alta qualidade. Por ser um nicho mais especializado, os salários para desenvolvedores Swift costumam ser bem competitivos. A ferramenta principal é o Xcode, uma IDE poderosa que integra design, código e testes. E a comunidade é super ativa, com uma documentação oficial de primeira classe, mesmo que às vezes você precise de um milagre para encontrar a solução para aquele erro específico. Mas nem tudo são flores, e vamos falar sobre isso agora.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 nem tudo são flores, e vamos falar sobre isso agora. A Swift é incrível, mas o preço do MacBook necessário pra usar também é. Entre as vantagens, temos a performance de ponta, graças ao LLVM, e a segurança de memória nativa, que evita muitos crashes. A sintaxe é moderna, limpa e expressiva, o que facilita muito a leitura e a escrita do código. Por outro lado, a principal desvantagem é que você fica bem preso ao ecossistema Apple, o que exige um hardware caro para começar. O mercado, embora lucrativo, é um nicho menor comparado a linguagens como JavaScript ou Python. Com tudo isso em mente, por que aprender Swift hoje?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tudo isso em mente, por que aprender Swift hoje? Porque ela é moderna, segura e performática, sendo a escolha definitiva para quem quer dominar o ecossistema Apple. A Swift prova que uma linguagem pode ser poderosa, organizada e ainda tentar impedir o programador de cometer crimes contra o próprio código. Ela é uma ótima porta de entrada para conceitos avançados de computação e oferece um futuro promissor. Então, se você está pensando em entrar nesse mundo, comece com os Swift Playgrounds, explore a documentação oficial e tenha coragem. Obrigado pela atenção, e agora, estou aberto a dúvidas!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5589984" y="785813"/>
            <a:ext cx="3125391" cy="3571875"/>
          </a:xfrm>
          <a:prstGeom prst="rect">
            <a:avLst/>
          </a:prstGeom>
        </p:spPr>
      </p:pic>
      <p:sp>
        <p:nvSpPr>
          <p:cNvPr id="5" name="Text 0"/>
          <p:cNvSpPr/>
          <p:nvPr/>
        </p:nvSpPr>
        <p:spPr>
          <a:xfrm>
            <a:off x="616226" y="1329359"/>
            <a:ext cx="5143500" cy="1200150"/>
          </a:xfrm>
          <a:prstGeom prst="rect">
            <a:avLst/>
          </a:prstGeom>
          <a:noFill/>
          <a:ln/>
        </p:spPr>
        <p:txBody>
          <a:bodyPr wrap="square" lIns="0" tIns="0" rIns="0" bIns="0" rtlCol="0" anchor="t">
            <a:spAutoFit/>
          </a:bodyPr>
          <a:lstStyle/>
          <a:p>
            <a:pPr algn="l" indent="0" marL="0">
              <a:lnSpc>
                <a:spcPct val="80000"/>
              </a:lnSpc>
              <a:buNone/>
            </a:pPr>
            <a:r>
              <a:rPr lang="en-US" sz="4350" b="1" spc="-2" kern="0" dirty="0">
                <a:solidFill>
                  <a:srgbClr val="000000"/>
                </a:solidFill>
                <a:latin typeface="JetBrains Mono Bold" pitchFamily="34" charset="0"/>
                <a:ea typeface="JetBrains Mono Bold" pitchFamily="34" charset="-122"/>
                <a:cs typeface="JetBrains Mono Bold" pitchFamily="34" charset="-120"/>
              </a:rPr>
              <a:t>SWIFT: RÁPIDA ATÉ NO NOME</a:t>
            </a:r>
            <a:endParaRPr lang="en-US" sz="4350" dirty="0"/>
          </a:p>
        </p:txBody>
      </p:sp>
      <p:sp>
        <p:nvSpPr>
          <p:cNvPr id="6" name="Text 1"/>
          <p:cNvSpPr/>
          <p:nvPr/>
        </p:nvSpPr>
        <p:spPr>
          <a:xfrm>
            <a:off x="616226" y="2743822"/>
            <a:ext cx="4286250" cy="1092994"/>
          </a:xfrm>
          <a:prstGeom prst="rect">
            <a:avLst/>
          </a:prstGeom>
          <a:noFill/>
          <a:ln/>
        </p:spPr>
        <p:txBody>
          <a:bodyPr wrap="square" lIns="255143" tIns="0" rIns="0" bIns="0" rtlCol="0" anchor="t">
            <a:spAutoFit/>
          </a:bodyPr>
          <a:lstStyle/>
          <a:p>
            <a:pPr algn="l" indent="0" marL="0">
              <a:buNone/>
            </a:pPr>
            <a:r>
              <a:rPr lang="en-US" sz="2100" b="1" dirty="0">
                <a:solidFill>
                  <a:srgbClr val="000000"/>
                </a:solidFill>
                <a:latin typeface="Inter Bold" pitchFamily="34" charset="0"/>
                <a:ea typeface="Inter Bold" pitchFamily="34" charset="-122"/>
                <a:cs typeface="Inter Bold" pitchFamily="34" charset="-120"/>
              </a:rPr>
              <a:t>O futuro do desenvolvimento Apple começa aqui.</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857250"/>
            <a:ext cx="4643438" cy="1207294"/>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DO CAOS À CLAREZA</a:t>
            </a:r>
            <a:endParaRPr lang="en-US" sz="3300" dirty="0"/>
          </a:p>
        </p:txBody>
      </p:sp>
      <p:pic>
        <p:nvPicPr>
          <p:cNvPr id="5" name="Image 1" descr="preencoded.png">    </p:cNvPr>
          <p:cNvPicPr>
            <a:picLocks noChangeAspect="1"/>
          </p:cNvPicPr>
          <p:nvPr/>
        </p:nvPicPr>
        <p:blipFill>
          <a:blip r:embed="rId2"/>
          <a:stretch>
            <a:fillRect/>
          </a:stretch>
        </p:blipFill>
        <p:spPr>
          <a:xfrm>
            <a:off x="571500" y="2421731"/>
            <a:ext cx="228600" cy="285750"/>
          </a:xfrm>
          <a:prstGeom prst="rect">
            <a:avLst/>
          </a:prstGeom>
        </p:spPr>
      </p:pic>
      <p:sp>
        <p:nvSpPr>
          <p:cNvPr id="6" name="Text 1"/>
          <p:cNvSpPr/>
          <p:nvPr/>
        </p:nvSpPr>
        <p:spPr>
          <a:xfrm>
            <a:off x="978694" y="2421731"/>
            <a:ext cx="42362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Lançamento:</a:t>
            </a:r>
            <a:r>
              <a:rPr lang="en-US" sz="1500" dirty="0">
                <a:solidFill>
                  <a:srgbClr val="1A1A1A"/>
                </a:solidFill>
                <a:latin typeface="Inter Light" pitchFamily="34" charset="0"/>
                <a:ea typeface="Inter Light" pitchFamily="34" charset="-122"/>
                <a:cs typeface="Inter Light" pitchFamily="34" charset="-120"/>
              </a:rPr>
              <a:t> Apresentada em 2014 na </a:t>
            </a:r>
            <a:r>
              <a:rPr lang="en-US" sz="1500" dirty="0">
                <a:solidFill>
                  <a:srgbClr val="1A1A1A"/>
                </a:solidFill>
                <a:latin typeface="Inter Light" pitchFamily="34" charset="0"/>
                <a:ea typeface="Inter Light" pitchFamily="34" charset="-122"/>
                <a:cs typeface="Inter Light" pitchFamily="34" charset="-120"/>
              </a:rPr>
              <a:t>WWDC como a grande evolução da Apple.</a:t>
            </a:r>
            <a:endParaRPr lang="en-US" sz="1400" dirty="0"/>
          </a:p>
        </p:txBody>
      </p:sp>
      <p:pic>
        <p:nvPicPr>
          <p:cNvPr id="7" name="Image 2" descr="preencoded.png">    </p:cNvPr>
          <p:cNvPicPr>
            <a:picLocks noChangeAspect="1"/>
          </p:cNvPicPr>
          <p:nvPr/>
        </p:nvPicPr>
        <p:blipFill>
          <a:blip r:embed="rId3"/>
          <a:stretch>
            <a:fillRect/>
          </a:stretch>
        </p:blipFill>
        <p:spPr>
          <a:xfrm>
            <a:off x="571500" y="3227524"/>
            <a:ext cx="228600" cy="285750"/>
          </a:xfrm>
          <a:prstGeom prst="rect">
            <a:avLst/>
          </a:prstGeom>
        </p:spPr>
      </p:pic>
      <p:sp>
        <p:nvSpPr>
          <p:cNvPr id="8" name="Text 2"/>
          <p:cNvSpPr/>
          <p:nvPr/>
        </p:nvSpPr>
        <p:spPr>
          <a:xfrm>
            <a:off x="978694" y="3227524"/>
            <a:ext cx="42362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Propósito:</a:t>
            </a:r>
            <a:r>
              <a:rPr lang="en-US" sz="1500" dirty="0">
                <a:solidFill>
                  <a:srgbClr val="1A1A1A"/>
                </a:solidFill>
                <a:latin typeface="Inter Light" pitchFamily="34" charset="0"/>
                <a:ea typeface="Inter Light" pitchFamily="34" charset="-122"/>
                <a:cs typeface="Inter Light" pitchFamily="34" charset="-120"/>
              </a:rPr>
              <a:t> Rápida, moderna e segura, </a:t>
            </a:r>
            <a:r>
              <a:rPr lang="en-US" sz="1500" dirty="0">
                <a:solidFill>
                  <a:srgbClr val="1A1A1A"/>
                </a:solidFill>
                <a:latin typeface="Inter Light" pitchFamily="34" charset="0"/>
                <a:ea typeface="Inter Light" pitchFamily="34" charset="-122"/>
                <a:cs typeface="Inter Light" pitchFamily="34" charset="-120"/>
              </a:rPr>
              <a:t>substituindo o verboso Objective-C.</a:t>
            </a:r>
            <a:endParaRPr lang="en-US" sz="1400" dirty="0"/>
          </a:p>
        </p:txBody>
      </p:sp>
      <p:pic>
        <p:nvPicPr>
          <p:cNvPr id="9" name="Image 3" descr="preencoded.png">    </p:cNvPr>
          <p:cNvPicPr>
            <a:picLocks noChangeAspect="1"/>
          </p:cNvPicPr>
          <p:nvPr/>
        </p:nvPicPr>
        <p:blipFill>
          <a:blip r:embed="rId4"/>
          <a:stretch>
            <a:fillRect/>
          </a:stretch>
        </p:blipFill>
        <p:spPr>
          <a:xfrm>
            <a:off x="571500" y="4033317"/>
            <a:ext cx="200025" cy="285750"/>
          </a:xfrm>
          <a:prstGeom prst="rect">
            <a:avLst/>
          </a:prstGeom>
        </p:spPr>
      </p:pic>
      <p:sp>
        <p:nvSpPr>
          <p:cNvPr id="10" name="Text 3"/>
          <p:cNvSpPr/>
          <p:nvPr/>
        </p:nvSpPr>
        <p:spPr>
          <a:xfrm>
            <a:off x="950119" y="4033317"/>
            <a:ext cx="4264819"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Open Source:</a:t>
            </a:r>
            <a:r>
              <a:rPr lang="en-US" sz="1500" dirty="0">
                <a:solidFill>
                  <a:srgbClr val="1A1A1A"/>
                </a:solidFill>
                <a:latin typeface="Inter Light" pitchFamily="34" charset="0"/>
                <a:ea typeface="Inter Light" pitchFamily="34" charset="-122"/>
                <a:cs typeface="Inter Light" pitchFamily="34" charset="-120"/>
              </a:rPr>
              <a:t> Tornou-se código aberto em </a:t>
            </a:r>
            <a:r>
              <a:rPr lang="en-US" sz="1500" dirty="0">
                <a:solidFill>
                  <a:srgbClr val="1A1A1A"/>
                </a:solidFill>
                <a:latin typeface="Inter Light" pitchFamily="34" charset="0"/>
                <a:ea typeface="Inter Light" pitchFamily="34" charset="-122"/>
                <a:cs typeface="Inter Light" pitchFamily="34" charset="-120"/>
              </a:rPr>
              <a:t>2015, ganhando o mundo.</a:t>
            </a:r>
            <a:endParaRPr lang="en-US" sz="1400" dirty="0"/>
          </a:p>
        </p:txBody>
      </p:sp>
      <p:sp>
        <p:nvSpPr>
          <p:cNvPr id="11" name="Shape 4"/>
          <p:cNvSpPr/>
          <p:nvPr/>
        </p:nvSpPr>
        <p:spPr>
          <a:xfrm>
            <a:off x="5500688" y="1240836"/>
            <a:ext cx="3429000" cy="3214688"/>
          </a:xfrm>
          <a:prstGeom prst="rect">
            <a:avLst/>
          </a:prstGeom>
          <a:solidFill>
            <a:srgbClr val="FF9500"/>
          </a:solidFill>
          <a:ln w="45720">
            <a:solidFill>
              <a:srgbClr val="000000"/>
            </a:solidFill>
            <a:prstDash val="solid"/>
          </a:ln>
        </p:spPr>
      </p:sp>
      <p:sp>
        <p:nvSpPr>
          <p:cNvPr id="12" name="Text 5"/>
          <p:cNvSpPr/>
          <p:nvPr/>
        </p:nvSpPr>
        <p:spPr>
          <a:xfrm>
            <a:off x="5715000" y="1097961"/>
            <a:ext cx="550069" cy="1366242"/>
          </a:xfrm>
          <a:prstGeom prst="rect">
            <a:avLst/>
          </a:prstGeom>
          <a:noFill/>
          <a:ln/>
        </p:spPr>
        <p:txBody>
          <a:bodyPr wrap="none" lIns="0" tIns="0" rIns="0" bIns="0" rtlCol="0" anchor="t">
            <a:spAutoFit/>
          </a:bodyPr>
          <a:lstStyle/>
          <a:p>
            <a:pPr algn="l" indent="0" marL="0">
              <a:buNone/>
            </a:pPr>
            <a:r>
              <a:rPr lang="en-US" sz="8250" dirty="0">
                <a:solidFill>
                  <a:srgbClr val="000000">
                    <a:alpha val="15000"/>
                  </a:srgbClr>
                </a:solidFill>
                <a:latin typeface="Space Grotesk Bold" pitchFamily="34" charset="0"/>
                <a:ea typeface="Space Grotesk Bold" pitchFamily="34" charset="-122"/>
                <a:cs typeface="Space Grotesk Bold" pitchFamily="34" charset="-120"/>
              </a:rPr>
              <a:t>\"</a:t>
            </a:r>
            <a:endParaRPr lang="en-US" sz="8250" dirty="0"/>
          </a:p>
        </p:txBody>
      </p:sp>
      <p:sp>
        <p:nvSpPr>
          <p:cNvPr id="13" name="Text 6"/>
          <p:cNvSpPr/>
          <p:nvPr/>
        </p:nvSpPr>
        <p:spPr>
          <a:xfrm>
            <a:off x="5857875" y="2033820"/>
            <a:ext cx="2714625" cy="1628691"/>
          </a:xfrm>
          <a:prstGeom prst="rect">
            <a:avLst/>
          </a:prstGeom>
          <a:noFill/>
          <a:ln/>
        </p:spPr>
        <p:txBody>
          <a:bodyPr wrap="square" lIns="0" tIns="0" rIns="0" bIns="0" rtlCol="0" anchor="t">
            <a:spAutoFit/>
          </a:bodyPr>
          <a:lstStyle/>
          <a:p>
            <a:pPr algn="ctr" indent="0" marL="0">
              <a:lnSpc>
                <a:spcPct val="96000"/>
              </a:lnSpc>
              <a:buNone/>
            </a:pPr>
            <a:r>
              <a:rPr lang="en-US" sz="1900" b="1" i="1" dirty="0">
                <a:solidFill>
                  <a:srgbClr val="000000"/>
                </a:solidFill>
                <a:latin typeface="Inter Bold" pitchFamily="34" charset="0"/>
                <a:ea typeface="Inter Bold" pitchFamily="34" charset="-122"/>
                <a:cs typeface="Inter Bold" pitchFamily="34" charset="-120"/>
              </a:rPr>
              <a:t>"A Apple olhou para o Objective-C e pensou: 'dá pra complicar menos isso aqui'."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571500"/>
            <a:ext cx="8429625"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O DNA DA SWIFT</a:t>
            </a:r>
            <a:endParaRPr lang="en-US" sz="3300" dirty="0"/>
          </a:p>
        </p:txBody>
      </p:sp>
      <p:sp>
        <p:nvSpPr>
          <p:cNvPr id="5" name="Shape 1"/>
          <p:cNvSpPr/>
          <p:nvPr/>
        </p:nvSpPr>
        <p:spPr>
          <a:xfrm>
            <a:off x="714375" y="1532334"/>
            <a:ext cx="642938" cy="642938"/>
          </a:xfrm>
          <a:prstGeom prst="ellipse">
            <a:avLst/>
          </a:prstGeom>
          <a:solidFill>
            <a:srgbClr val="000000"/>
          </a:solidFill>
          <a:ln/>
        </p:spPr>
      </p:sp>
      <p:pic>
        <p:nvPicPr>
          <p:cNvPr id="6" name="Image 1" descr="preencoded.png">    </p:cNvPr>
          <p:cNvPicPr>
            <a:picLocks noChangeAspect="1"/>
          </p:cNvPicPr>
          <p:nvPr/>
        </p:nvPicPr>
        <p:blipFill>
          <a:blip r:embed="rId2"/>
          <a:stretch>
            <a:fillRect/>
          </a:stretch>
        </p:blipFill>
        <p:spPr>
          <a:xfrm>
            <a:off x="892969" y="1710928"/>
            <a:ext cx="285750" cy="285750"/>
          </a:xfrm>
          <a:prstGeom prst="rect">
            <a:avLst/>
          </a:prstGeom>
        </p:spPr>
      </p:pic>
      <p:sp>
        <p:nvSpPr>
          <p:cNvPr id="7" name="Text 2"/>
          <p:cNvSpPr/>
          <p:nvPr/>
        </p:nvSpPr>
        <p:spPr>
          <a:xfrm>
            <a:off x="1535906" y="1532334"/>
            <a:ext cx="2928938" cy="294680"/>
          </a:xfrm>
          <a:prstGeom prst="rect">
            <a:avLst/>
          </a:prstGeom>
          <a:noFill/>
          <a:ln/>
        </p:spPr>
        <p:txBody>
          <a:bodyPr wrap="square" lIns="0" tIns="0" rIns="0" bIns="0" rtlCol="0" anchor="t">
            <a:spAutoFit/>
          </a:bodyPr>
          <a:lstStyle/>
          <a:p>
            <a:pPr algn="l" indent="0" marL="0">
              <a:buNone/>
            </a:pPr>
            <a:r>
              <a:rPr lang="en-US" sz="1700" b="1" dirty="0">
                <a:solidFill>
                  <a:srgbClr val="000000"/>
                </a:solidFill>
                <a:latin typeface="Inter Bold" pitchFamily="34" charset="0"/>
                <a:ea typeface="Inter Bold" pitchFamily="34" charset="-122"/>
                <a:cs typeface="Inter Bold" pitchFamily="34" charset="-120"/>
              </a:rPr>
              <a:t>Segurança</a:t>
            </a:r>
            <a:endParaRPr lang="en-US" sz="1700" dirty="0"/>
          </a:p>
        </p:txBody>
      </p:sp>
      <p:sp>
        <p:nvSpPr>
          <p:cNvPr id="8" name="Text 3"/>
          <p:cNvSpPr/>
          <p:nvPr/>
        </p:nvSpPr>
        <p:spPr>
          <a:xfrm>
            <a:off x="1535906" y="1934170"/>
            <a:ext cx="2928938"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Focada em evitar erros de memória e tipos, impedindo crashes fatais.</a:t>
            </a:r>
            <a:endParaRPr lang="en-US" sz="1250" dirty="0"/>
          </a:p>
        </p:txBody>
      </p:sp>
      <p:sp>
        <p:nvSpPr>
          <p:cNvPr id="9" name="Shape 4"/>
          <p:cNvSpPr/>
          <p:nvPr/>
        </p:nvSpPr>
        <p:spPr>
          <a:xfrm>
            <a:off x="4822031" y="1532334"/>
            <a:ext cx="642938" cy="642938"/>
          </a:xfrm>
          <a:prstGeom prst="ellipse">
            <a:avLst/>
          </a:prstGeom>
          <a:solidFill>
            <a:srgbClr val="000000"/>
          </a:solidFill>
          <a:ln/>
        </p:spPr>
      </p:sp>
      <p:pic>
        <p:nvPicPr>
          <p:cNvPr id="10" name="Image 2" descr="preencoded.png">    </p:cNvPr>
          <p:cNvPicPr>
            <a:picLocks noChangeAspect="1"/>
          </p:cNvPicPr>
          <p:nvPr/>
        </p:nvPicPr>
        <p:blipFill>
          <a:blip r:embed="rId3"/>
          <a:stretch>
            <a:fillRect/>
          </a:stretch>
        </p:blipFill>
        <p:spPr>
          <a:xfrm>
            <a:off x="5036344" y="1710928"/>
            <a:ext cx="214313" cy="285750"/>
          </a:xfrm>
          <a:prstGeom prst="rect">
            <a:avLst/>
          </a:prstGeom>
        </p:spPr>
      </p:pic>
      <p:sp>
        <p:nvSpPr>
          <p:cNvPr id="11" name="Text 5"/>
          <p:cNvSpPr/>
          <p:nvPr/>
        </p:nvSpPr>
        <p:spPr>
          <a:xfrm>
            <a:off x="5643563" y="1532334"/>
            <a:ext cx="2928938" cy="294680"/>
          </a:xfrm>
          <a:prstGeom prst="rect">
            <a:avLst/>
          </a:prstGeom>
          <a:noFill/>
          <a:ln/>
        </p:spPr>
        <p:txBody>
          <a:bodyPr wrap="square" lIns="0" tIns="0" rIns="0" bIns="0" rtlCol="0" anchor="t">
            <a:spAutoFit/>
          </a:bodyPr>
          <a:lstStyle/>
          <a:p>
            <a:pPr algn="l" indent="0" marL="0">
              <a:buNone/>
            </a:pPr>
            <a:r>
              <a:rPr lang="en-US" sz="1700" b="1" dirty="0">
                <a:solidFill>
                  <a:srgbClr val="000000"/>
                </a:solidFill>
                <a:latin typeface="Inter Bold" pitchFamily="34" charset="0"/>
                <a:ea typeface="Inter Bold" pitchFamily="34" charset="-122"/>
                <a:cs typeface="Inter Bold" pitchFamily="34" charset="-120"/>
              </a:rPr>
              <a:t>Performance</a:t>
            </a:r>
            <a:endParaRPr lang="en-US" sz="1700" dirty="0"/>
          </a:p>
        </p:txBody>
      </p:sp>
      <p:sp>
        <p:nvSpPr>
          <p:cNvPr id="12" name="Text 6"/>
          <p:cNvSpPr/>
          <p:nvPr/>
        </p:nvSpPr>
        <p:spPr>
          <a:xfrm>
            <a:off x="5643563" y="1934170"/>
            <a:ext cx="2928938"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Compilada via LLVM para extrair o máximo do hardware Apple.</a:t>
            </a:r>
            <a:endParaRPr lang="en-US" sz="1250" dirty="0"/>
          </a:p>
        </p:txBody>
      </p:sp>
      <p:sp>
        <p:nvSpPr>
          <p:cNvPr id="13" name="Shape 7"/>
          <p:cNvSpPr/>
          <p:nvPr/>
        </p:nvSpPr>
        <p:spPr>
          <a:xfrm>
            <a:off x="714375" y="2737117"/>
            <a:ext cx="642938" cy="642938"/>
          </a:xfrm>
          <a:prstGeom prst="ellipse">
            <a:avLst/>
          </a:prstGeom>
          <a:solidFill>
            <a:srgbClr val="000000"/>
          </a:solidFill>
          <a:ln/>
        </p:spPr>
      </p:sp>
      <p:pic>
        <p:nvPicPr>
          <p:cNvPr id="14" name="Image 3" descr="preencoded.png">    </p:cNvPr>
          <p:cNvPicPr>
            <a:picLocks noChangeAspect="1"/>
          </p:cNvPicPr>
          <p:nvPr/>
        </p:nvPicPr>
        <p:blipFill>
          <a:blip r:embed="rId4"/>
          <a:stretch>
            <a:fillRect/>
          </a:stretch>
        </p:blipFill>
        <p:spPr>
          <a:xfrm>
            <a:off x="875109" y="2915710"/>
            <a:ext cx="321469" cy="285750"/>
          </a:xfrm>
          <a:prstGeom prst="rect">
            <a:avLst/>
          </a:prstGeom>
        </p:spPr>
      </p:pic>
      <p:sp>
        <p:nvSpPr>
          <p:cNvPr id="15" name="Text 8"/>
          <p:cNvSpPr/>
          <p:nvPr/>
        </p:nvSpPr>
        <p:spPr>
          <a:xfrm>
            <a:off x="1535906" y="2737117"/>
            <a:ext cx="2928938" cy="294680"/>
          </a:xfrm>
          <a:prstGeom prst="rect">
            <a:avLst/>
          </a:prstGeom>
          <a:noFill/>
          <a:ln/>
        </p:spPr>
        <p:txBody>
          <a:bodyPr wrap="square" lIns="0" tIns="0" rIns="0" bIns="0" rtlCol="0" anchor="t">
            <a:spAutoFit/>
          </a:bodyPr>
          <a:lstStyle/>
          <a:p>
            <a:pPr algn="l" indent="0" marL="0">
              <a:buNone/>
            </a:pPr>
            <a:r>
              <a:rPr lang="en-US" sz="1700" b="1" dirty="0">
                <a:solidFill>
                  <a:srgbClr val="000000"/>
                </a:solidFill>
                <a:latin typeface="Inter Bold" pitchFamily="34" charset="0"/>
                <a:ea typeface="Inter Bold" pitchFamily="34" charset="-122"/>
                <a:cs typeface="Inter Bold" pitchFamily="34" charset="-120"/>
              </a:rPr>
              <a:t>Paradigmas</a:t>
            </a:r>
            <a:endParaRPr lang="en-US" sz="1700" dirty="0"/>
          </a:p>
        </p:txBody>
      </p:sp>
      <p:sp>
        <p:nvSpPr>
          <p:cNvPr id="16" name="Text 9"/>
          <p:cNvSpPr/>
          <p:nvPr/>
        </p:nvSpPr>
        <p:spPr>
          <a:xfrm>
            <a:off x="1535906" y="3138953"/>
            <a:ext cx="2928938"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Suporte a Programação Orientada a Objetos, Funcional e Protocolos.</a:t>
            </a:r>
            <a:endParaRPr lang="en-US" sz="1250" dirty="0"/>
          </a:p>
        </p:txBody>
      </p:sp>
      <p:sp>
        <p:nvSpPr>
          <p:cNvPr id="17" name="Shape 10"/>
          <p:cNvSpPr/>
          <p:nvPr/>
        </p:nvSpPr>
        <p:spPr>
          <a:xfrm>
            <a:off x="4822031" y="2737117"/>
            <a:ext cx="642938" cy="642938"/>
          </a:xfrm>
          <a:prstGeom prst="ellipse">
            <a:avLst/>
          </a:prstGeom>
          <a:solidFill>
            <a:srgbClr val="000000"/>
          </a:solidFill>
          <a:ln/>
        </p:spPr>
      </p:sp>
      <p:pic>
        <p:nvPicPr>
          <p:cNvPr id="18" name="Image 4" descr="preencoded.png">    </p:cNvPr>
          <p:cNvPicPr>
            <a:picLocks noChangeAspect="1"/>
          </p:cNvPicPr>
          <p:nvPr/>
        </p:nvPicPr>
        <p:blipFill>
          <a:blip r:embed="rId5"/>
          <a:stretch>
            <a:fillRect/>
          </a:stretch>
        </p:blipFill>
        <p:spPr>
          <a:xfrm>
            <a:off x="4964906" y="2915710"/>
            <a:ext cx="357188" cy="285750"/>
          </a:xfrm>
          <a:prstGeom prst="rect">
            <a:avLst/>
          </a:prstGeom>
        </p:spPr>
      </p:pic>
      <p:sp>
        <p:nvSpPr>
          <p:cNvPr id="19" name="Text 11"/>
          <p:cNvSpPr/>
          <p:nvPr/>
        </p:nvSpPr>
        <p:spPr>
          <a:xfrm>
            <a:off x="5643563" y="2737117"/>
            <a:ext cx="2928938" cy="294680"/>
          </a:xfrm>
          <a:prstGeom prst="rect">
            <a:avLst/>
          </a:prstGeom>
          <a:noFill/>
          <a:ln/>
        </p:spPr>
        <p:txBody>
          <a:bodyPr wrap="square" lIns="0" tIns="0" rIns="0" bIns="0" rtlCol="0" anchor="t">
            <a:spAutoFit/>
          </a:bodyPr>
          <a:lstStyle/>
          <a:p>
            <a:pPr algn="l" indent="0" marL="0">
              <a:buNone/>
            </a:pPr>
            <a:r>
              <a:rPr lang="en-US" sz="1700" b="1" dirty="0">
                <a:solidFill>
                  <a:srgbClr val="000000"/>
                </a:solidFill>
                <a:latin typeface="Inter Bold" pitchFamily="34" charset="0"/>
                <a:ea typeface="Inter Bold" pitchFamily="34" charset="-122"/>
                <a:cs typeface="Inter Bold" pitchFamily="34" charset="-120"/>
              </a:rPr>
              <a:t>Híbrida</a:t>
            </a:r>
            <a:endParaRPr lang="en-US" sz="1700" dirty="0"/>
          </a:p>
        </p:txBody>
      </p:sp>
      <p:sp>
        <p:nvSpPr>
          <p:cNvPr id="20" name="Text 12"/>
          <p:cNvSpPr/>
          <p:nvPr/>
        </p:nvSpPr>
        <p:spPr>
          <a:xfrm>
            <a:off x="5643563" y="3138953"/>
            <a:ext cx="2928938"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Convive em harmonia com Objective-C em sistemas legados.</a:t>
            </a:r>
            <a:endParaRPr lang="en-US" sz="1250" dirty="0"/>
          </a:p>
        </p:txBody>
      </p:sp>
      <p:sp>
        <p:nvSpPr>
          <p:cNvPr id="21" name="Text 13"/>
          <p:cNvSpPr/>
          <p:nvPr/>
        </p:nvSpPr>
        <p:spPr>
          <a:xfrm>
            <a:off x="714375" y="4013336"/>
            <a:ext cx="7500938" cy="760809"/>
          </a:xfrm>
          <a:prstGeom prst="rect">
            <a:avLst/>
          </a:prstGeom>
          <a:noFill/>
          <a:ln/>
        </p:spPr>
        <p:txBody>
          <a:bodyPr wrap="square" lIns="0" tIns="255143" rIns="0" bIns="0" rtlCol="0" anchor="t">
            <a:spAutoFit/>
          </a:bodyPr>
          <a:lstStyle/>
          <a:p>
            <a:pPr algn="l" indent="0" marL="0">
              <a:buNone/>
            </a:pPr>
            <a:r>
              <a:rPr lang="en-US" sz="1500" b="1" i="1" dirty="0">
                <a:solidFill>
                  <a:srgbClr val="F05138"/>
                </a:solidFill>
                <a:latin typeface="Inter Bold" pitchFamily="34" charset="0"/>
                <a:ea typeface="Inter Bold" pitchFamily="34" charset="-122"/>
                <a:cs typeface="Inter Bold" pitchFamily="34" charset="-120"/>
              </a:rPr>
              <a:t>“Swift tenta evitar que você destrua seu próprio código… diferente de algumas linguagens que simplesmente assistem ao caos acontecer.”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000125"/>
            <a:ext cx="5357813"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HELLO WORLD</a:t>
            </a:r>
            <a:endParaRPr lang="en-US" sz="3300" dirty="0"/>
          </a:p>
        </p:txBody>
      </p:sp>
      <p:sp>
        <p:nvSpPr>
          <p:cNvPr id="5" name="Shape 1"/>
          <p:cNvSpPr/>
          <p:nvPr/>
        </p:nvSpPr>
        <p:spPr>
          <a:xfrm>
            <a:off x="571500" y="1746647"/>
            <a:ext cx="5357813" cy="1785938"/>
          </a:xfrm>
          <a:prstGeom prst="rect">
            <a:avLst/>
          </a:prstGeom>
          <a:solidFill>
            <a:srgbClr val="000000"/>
          </a:solidFill>
          <a:ln/>
        </p:spPr>
      </p:sp>
      <p:sp>
        <p:nvSpPr>
          <p:cNvPr id="6" name="Shape 2"/>
          <p:cNvSpPr/>
          <p:nvPr/>
        </p:nvSpPr>
        <p:spPr>
          <a:xfrm>
            <a:off x="571500" y="1746647"/>
            <a:ext cx="107156" cy="1785938"/>
          </a:xfrm>
          <a:prstGeom prst="rect">
            <a:avLst/>
          </a:prstGeom>
          <a:solidFill>
            <a:srgbClr val="F05138"/>
          </a:solidFill>
          <a:ln/>
        </p:spPr>
      </p:sp>
      <p:sp>
        <p:nvSpPr>
          <p:cNvPr id="7" name="Text 3"/>
          <p:cNvSpPr/>
          <p:nvPr/>
        </p:nvSpPr>
        <p:spPr>
          <a:xfrm>
            <a:off x="571500" y="1746647"/>
            <a:ext cx="5357813" cy="1785938"/>
          </a:xfrm>
          <a:prstGeom prst="rect">
            <a:avLst/>
          </a:prstGeom>
          <a:noFill/>
          <a:ln/>
        </p:spPr>
        <p:txBody>
          <a:bodyPr wrap="square" lIns="425196" tIns="510286" rIns="0" bIns="0" rtlCol="0" anchor="t">
            <a:spAutoFit/>
          </a:bodyPr>
          <a:lstStyle/>
          <a:p>
            <a:pPr algn="l" indent="0" marL="0">
              <a:buNone/>
            </a:pPr>
            <a:r>
              <a:rPr lang="en-US" sz="2600" dirty="0">
                <a:solidFill>
                  <a:srgbClr val="F05138"/>
                </a:solidFill>
                <a:latin typeface="JetBrains Mono Bold" pitchFamily="34" charset="0"/>
                <a:ea typeface="JetBrains Mono Bold" pitchFamily="34" charset="-122"/>
                <a:cs typeface="JetBrains Mono Bold" pitchFamily="34" charset="-120"/>
              </a:rPr>
              <a:t>print</a:t>
            </a:r>
            <a:r>
              <a:rPr lang="en-US" sz="2600" dirty="0">
                <a:solidFill>
                  <a:srgbClr val="FFFFFF"/>
                </a:solidFill>
                <a:latin typeface="JetBrains Mono Bold" pitchFamily="34" charset="0"/>
                <a:ea typeface="JetBrains Mono Bold" pitchFamily="34" charset="-122"/>
                <a:cs typeface="JetBrains Mono Bold" pitchFamily="34" charset="-120"/>
              </a:rPr>
              <a:t>(</a:t>
            </a:r>
            <a:r>
              <a:rPr lang="en-US" sz="2600" dirty="0">
                <a:solidFill>
                  <a:srgbClr val="FF9500"/>
                </a:solidFill>
                <a:latin typeface="JetBrains Mono Bold" pitchFamily="34" charset="0"/>
                <a:ea typeface="JetBrains Mono Bold" pitchFamily="34" charset="-122"/>
                <a:cs typeface="JetBrains Mono Bold" pitchFamily="34" charset="-120"/>
              </a:rPr>
              <a:t>"Hello, World!"</a:t>
            </a:r>
            <a:r>
              <a:rPr lang="en-US" sz="2600" dirty="0">
                <a:solidFill>
                  <a:srgbClr val="FFFFFF"/>
                </a:solidFill>
                <a:latin typeface="JetBrains Mono Bold" pitchFamily="34" charset="0"/>
                <a:ea typeface="JetBrains Mono Bold" pitchFamily="34" charset="-122"/>
                <a:cs typeface="JetBrains Mono Bold" pitchFamily="34" charset="-120"/>
              </a:rPr>
              <a:t>)</a:t>
            </a:r>
            <a:endParaRPr lang="en-US" sz="2600" dirty="0"/>
          </a:p>
        </p:txBody>
      </p:sp>
      <p:sp>
        <p:nvSpPr>
          <p:cNvPr id="8" name="Shape 4"/>
          <p:cNvSpPr/>
          <p:nvPr/>
        </p:nvSpPr>
        <p:spPr>
          <a:xfrm>
            <a:off x="571500" y="3675459"/>
            <a:ext cx="5357813" cy="1091515"/>
          </a:xfrm>
          <a:prstGeom prst="rect">
            <a:avLst/>
          </a:prstGeom>
          <a:solidFill>
            <a:srgbClr val="FF9500"/>
          </a:solidFill>
          <a:ln w="45720">
            <a:solidFill>
              <a:srgbClr val="000000"/>
            </a:solidFill>
            <a:prstDash val="solid"/>
          </a:ln>
        </p:spPr>
      </p:sp>
      <p:sp>
        <p:nvSpPr>
          <p:cNvPr id="9" name="Text 5"/>
          <p:cNvSpPr/>
          <p:nvPr/>
        </p:nvSpPr>
        <p:spPr>
          <a:xfrm>
            <a:off x="5116711" y="1889522"/>
            <a:ext cx="491133" cy="169664"/>
          </a:xfrm>
          <a:prstGeom prst="rect">
            <a:avLst/>
          </a:prstGeom>
          <a:noFill/>
          <a:ln/>
        </p:spPr>
        <p:txBody>
          <a:bodyPr wrap="none" lIns="0" tIns="0" rIns="0" bIns="0" rtlCol="0" anchor="t">
            <a:spAutoFit/>
          </a:bodyPr>
          <a:lstStyle/>
          <a:p>
            <a:pPr algn="l" indent="0" marL="0">
              <a:buNone/>
            </a:pPr>
            <a:r>
              <a:rPr lang="en-US" sz="950" spc="2" kern="0" dirty="0">
                <a:solidFill>
                  <a:srgbClr val="888888"/>
                </a:solidFill>
                <a:latin typeface="JetBrains Mono Bold" pitchFamily="34" charset="0"/>
                <a:ea typeface="JetBrains Mono Bold" pitchFamily="34" charset="-122"/>
                <a:cs typeface="JetBrains Mono Bold" pitchFamily="34" charset="-120"/>
              </a:rPr>
              <a:t>SWIFT</a:t>
            </a:r>
            <a:endParaRPr lang="en-US" sz="950" dirty="0"/>
          </a:p>
        </p:txBody>
      </p:sp>
      <p:sp>
        <p:nvSpPr>
          <p:cNvPr id="10" name="Text 6"/>
          <p:cNvSpPr/>
          <p:nvPr/>
        </p:nvSpPr>
        <p:spPr>
          <a:xfrm>
            <a:off x="714375" y="3818334"/>
            <a:ext cx="5072063" cy="720040"/>
          </a:xfrm>
          <a:prstGeom prst="rect">
            <a:avLst/>
          </a:prstGeom>
          <a:noFill/>
          <a:ln/>
        </p:spPr>
        <p:txBody>
          <a:bodyPr wrap="square" lIns="0" tIns="0" rIns="0" bIns="0" rtlCol="0" anchor="t">
            <a:spAutoFit/>
          </a:bodyPr>
          <a:lstStyle/>
          <a:p>
            <a:pPr algn="ctr" indent="0" marL="0">
              <a:lnSpc>
                <a:spcPct val="96000"/>
              </a:lnSpc>
              <a:buNone/>
            </a:pPr>
            <a:r>
              <a:rPr lang="en-US" sz="1400" b="1" dirty="0">
                <a:solidFill>
                  <a:srgbClr val="000000"/>
                </a:solidFill>
                <a:latin typeface="Inter Bold" pitchFamily="34" charset="0"/>
                <a:ea typeface="Inter Bold" pitchFamily="34" charset="-122"/>
                <a:cs typeface="Inter Bold" pitchFamily="34" charset="-120"/>
              </a:rPr>
              <a:t>“Enquanto algumas linguagens pedem um ritual completo pra imprimir texto, Swift resolve isso em uma linha.”</a:t>
            </a:r>
            <a:endParaRPr lang="en-US" sz="1400" dirty="0"/>
          </a:p>
        </p:txBody>
      </p:sp>
      <p:sp>
        <p:nvSpPr>
          <p:cNvPr id="11" name="Text 7"/>
          <p:cNvSpPr/>
          <p:nvPr/>
        </p:nvSpPr>
        <p:spPr>
          <a:xfrm>
            <a:off x="6181518" y="1514475"/>
            <a:ext cx="2857500" cy="258961"/>
          </a:xfrm>
          <a:prstGeom prst="rect">
            <a:avLst/>
          </a:prstGeom>
          <a:noFill/>
          <a:ln/>
        </p:spPr>
        <p:txBody>
          <a:bodyPr wrap="square" lIns="0" tIns="0" rIns="0" bIns="0" rtlCol="0" anchor="t">
            <a:spAutoFit/>
          </a:bodyPr>
          <a:lstStyle/>
          <a:p>
            <a:pPr algn="l" indent="0" marL="0">
              <a:buNone/>
            </a:pPr>
            <a:r>
              <a:rPr lang="en-US" sz="1500" b="1" dirty="0">
                <a:solidFill>
                  <a:srgbClr val="000000"/>
                </a:solidFill>
                <a:latin typeface="Inter Bold" pitchFamily="34" charset="0"/>
                <a:ea typeface="Inter Bold" pitchFamily="34" charset="-122"/>
                <a:cs typeface="Inter Bold" pitchFamily="34" charset="-120"/>
              </a:rPr>
              <a:t>Sintaxe Direta</a:t>
            </a:r>
            <a:endParaRPr lang="en-US" sz="1500" dirty="0"/>
          </a:p>
        </p:txBody>
      </p:sp>
      <p:sp>
        <p:nvSpPr>
          <p:cNvPr id="12" name="Text 8"/>
          <p:cNvSpPr/>
          <p:nvPr/>
        </p:nvSpPr>
        <p:spPr>
          <a:xfrm>
            <a:off x="6181518" y="1844873"/>
            <a:ext cx="2857500"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Sem importações básicas ou classes obrigatórias.</a:t>
            </a:r>
            <a:endParaRPr lang="en-US" sz="1250" dirty="0"/>
          </a:p>
        </p:txBody>
      </p:sp>
      <p:sp>
        <p:nvSpPr>
          <p:cNvPr id="13" name="Text 9"/>
          <p:cNvSpPr/>
          <p:nvPr/>
        </p:nvSpPr>
        <p:spPr>
          <a:xfrm>
            <a:off x="6181518" y="2604957"/>
            <a:ext cx="2857500" cy="258961"/>
          </a:xfrm>
          <a:prstGeom prst="rect">
            <a:avLst/>
          </a:prstGeom>
          <a:noFill/>
          <a:ln/>
        </p:spPr>
        <p:txBody>
          <a:bodyPr wrap="square" lIns="0" tIns="0" rIns="0" bIns="0" rtlCol="0" anchor="t">
            <a:spAutoFit/>
          </a:bodyPr>
          <a:lstStyle/>
          <a:p>
            <a:pPr algn="l" indent="0" marL="0">
              <a:buNone/>
            </a:pPr>
            <a:r>
              <a:rPr lang="en-US" sz="1500" b="1" dirty="0">
                <a:solidFill>
                  <a:srgbClr val="000000"/>
                </a:solidFill>
                <a:latin typeface="Inter Bold" pitchFamily="34" charset="0"/>
                <a:ea typeface="Inter Bold" pitchFamily="34" charset="-122"/>
                <a:cs typeface="Inter Bold" pitchFamily="34" charset="-120"/>
              </a:rPr>
              <a:t>Sem Ponto e Vírgula</a:t>
            </a:r>
            <a:endParaRPr lang="en-US" sz="1500" dirty="0"/>
          </a:p>
        </p:txBody>
      </p:sp>
      <p:sp>
        <p:nvSpPr>
          <p:cNvPr id="14" name="Text 10"/>
          <p:cNvSpPr/>
          <p:nvPr/>
        </p:nvSpPr>
        <p:spPr>
          <a:xfrm>
            <a:off x="6181518" y="2935356"/>
            <a:ext cx="2857500"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Opcional e desencorajado. Menos ruído visual.</a:t>
            </a:r>
            <a:endParaRPr lang="en-US" sz="1250" dirty="0"/>
          </a:p>
        </p:txBody>
      </p:sp>
      <p:sp>
        <p:nvSpPr>
          <p:cNvPr id="15" name="Text 11"/>
          <p:cNvSpPr/>
          <p:nvPr/>
        </p:nvSpPr>
        <p:spPr>
          <a:xfrm>
            <a:off x="6181518" y="3695440"/>
            <a:ext cx="2857500" cy="258961"/>
          </a:xfrm>
          <a:prstGeom prst="rect">
            <a:avLst/>
          </a:prstGeom>
          <a:noFill/>
          <a:ln/>
        </p:spPr>
        <p:txBody>
          <a:bodyPr wrap="square" lIns="0" tIns="0" rIns="0" bIns="0" rtlCol="0" anchor="t">
            <a:spAutoFit/>
          </a:bodyPr>
          <a:lstStyle/>
          <a:p>
            <a:pPr algn="l" indent="0" marL="0">
              <a:buNone/>
            </a:pPr>
            <a:r>
              <a:rPr lang="en-US" sz="1500" b="1" dirty="0">
                <a:solidFill>
                  <a:srgbClr val="000000"/>
                </a:solidFill>
                <a:latin typeface="Inter Bold" pitchFamily="34" charset="0"/>
                <a:ea typeface="Inter Bold" pitchFamily="34" charset="-122"/>
                <a:cs typeface="Inter Bold" pitchFamily="34" charset="-120"/>
              </a:rPr>
              <a:t>Poder Real</a:t>
            </a:r>
            <a:endParaRPr lang="en-US" sz="1500" dirty="0"/>
          </a:p>
        </p:txBody>
      </p:sp>
      <p:sp>
        <p:nvSpPr>
          <p:cNvPr id="16" name="Text 12"/>
          <p:cNvSpPr/>
          <p:nvPr/>
        </p:nvSpPr>
        <p:spPr>
          <a:xfrm>
            <a:off x="6181518" y="4025838"/>
            <a:ext cx="2857500" cy="445759"/>
          </a:xfrm>
          <a:prstGeom prst="rect">
            <a:avLst/>
          </a:prstGeom>
          <a:noFill/>
          <a:ln/>
        </p:spPr>
        <p:txBody>
          <a:bodyPr wrap="square" lIns="0" tIns="0" rIns="0" bIns="0" rtlCol="0" anchor="t">
            <a:spAutoFit/>
          </a:bodyPr>
          <a:lstStyle/>
          <a:p>
            <a:pPr algn="l" indent="0" marL="0">
              <a:lnSpc>
                <a:spcPct val="104000"/>
              </a:lnSpc>
              <a:buNone/>
            </a:pPr>
            <a:r>
              <a:rPr lang="en-US" sz="1250" dirty="0">
                <a:solidFill>
                  <a:srgbClr val="000000"/>
                </a:solidFill>
                <a:latin typeface="Inter Light" pitchFamily="34" charset="0"/>
                <a:ea typeface="Inter Light" pitchFamily="34" charset="-122"/>
                <a:cs typeface="Inter Light" pitchFamily="34" charset="-120"/>
              </a:rPr>
              <a:t>Parece script, mas é compilada e otimizada.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4375"/>
            <a:ext cx="8001000"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A ARTE DE NOMEAR</a:t>
            </a:r>
            <a:endParaRPr lang="en-US" sz="3300" dirty="0"/>
          </a:p>
        </p:txBody>
      </p:sp>
      <p:sp>
        <p:nvSpPr>
          <p:cNvPr id="5" name="Text 1"/>
          <p:cNvSpPr/>
          <p:nvPr/>
        </p:nvSpPr>
        <p:spPr>
          <a:xfrm>
            <a:off x="571500" y="1675209"/>
            <a:ext cx="3693961" cy="339328"/>
          </a:xfrm>
          <a:prstGeom prst="rect">
            <a:avLst/>
          </a:prstGeom>
          <a:noFill/>
          <a:ln/>
        </p:spPr>
        <p:txBody>
          <a:bodyPr wrap="square" lIns="0" tIns="0" rIns="0" bIns="0" rtlCol="0" anchor="t">
            <a:spAutoFit/>
          </a:bodyPr>
          <a:lstStyle/>
          <a:p>
            <a:pPr algn="l" indent="0" marL="0">
              <a:buNone/>
            </a:pPr>
            <a:r>
              <a:rPr lang="en-US" sz="1900" dirty="0">
                <a:solidFill>
                  <a:srgbClr val="F05138"/>
                </a:solidFill>
                <a:latin typeface="JetBrains Mono Bold" pitchFamily="34" charset="0"/>
                <a:ea typeface="JetBrains Mono Bold" pitchFamily="34" charset="-122"/>
                <a:cs typeface="JetBrains Mono Bold" pitchFamily="34" charset="-120"/>
              </a:rPr>
              <a:t>camelCase</a:t>
            </a:r>
            <a:endParaRPr lang="en-US" sz="1900" dirty="0"/>
          </a:p>
        </p:txBody>
      </p:sp>
      <p:sp>
        <p:nvSpPr>
          <p:cNvPr id="6" name="Text 2"/>
          <p:cNvSpPr/>
          <p:nvPr/>
        </p:nvSpPr>
        <p:spPr>
          <a:xfrm>
            <a:off x="571500" y="2121694"/>
            <a:ext cx="3693961" cy="520043"/>
          </a:xfrm>
          <a:prstGeom prst="rect">
            <a:avLst/>
          </a:prstGeom>
          <a:noFill/>
          <a:ln/>
        </p:spPr>
        <p:txBody>
          <a:bodyPr wrap="square" lIns="0" tIns="0" rIns="0" bIns="0" rtlCol="0" anchor="t">
            <a:spAutoFit/>
          </a:bodyPr>
          <a:lstStyle/>
          <a:p>
            <a:pPr algn="l" indent="0" marL="0">
              <a:lnSpc>
                <a:spcPct val="104000"/>
              </a:lnSpc>
              <a:buNone/>
            </a:pPr>
            <a:r>
              <a:rPr lang="en-US" sz="1500" dirty="0">
                <a:solidFill>
                  <a:srgbClr val="000000"/>
                </a:solidFill>
                <a:latin typeface="Inter Light" pitchFamily="34" charset="0"/>
                <a:ea typeface="Inter Light" pitchFamily="34" charset="-122"/>
                <a:cs typeface="Inter Light" pitchFamily="34" charset="-120"/>
              </a:rPr>
              <a:t>Para variáveis, constantes e funções. Começa com minúscula.</a:t>
            </a:r>
            <a:endParaRPr lang="en-US" sz="1500" dirty="0"/>
          </a:p>
        </p:txBody>
      </p:sp>
      <p:sp>
        <p:nvSpPr>
          <p:cNvPr id="7" name="Text 3"/>
          <p:cNvSpPr/>
          <p:nvPr/>
        </p:nvSpPr>
        <p:spPr>
          <a:xfrm>
            <a:off x="571500" y="2998924"/>
            <a:ext cx="3693961" cy="339328"/>
          </a:xfrm>
          <a:prstGeom prst="rect">
            <a:avLst/>
          </a:prstGeom>
          <a:noFill/>
          <a:ln/>
        </p:spPr>
        <p:txBody>
          <a:bodyPr wrap="square" lIns="0" tIns="0" rIns="0" bIns="0" rtlCol="0" anchor="t">
            <a:spAutoFit/>
          </a:bodyPr>
          <a:lstStyle/>
          <a:p>
            <a:pPr algn="l" indent="0" marL="0">
              <a:buNone/>
            </a:pPr>
            <a:r>
              <a:rPr lang="en-US" sz="1900" dirty="0">
                <a:solidFill>
                  <a:srgbClr val="F05138"/>
                </a:solidFill>
                <a:latin typeface="JetBrains Mono Bold" pitchFamily="34" charset="0"/>
                <a:ea typeface="JetBrains Mono Bold" pitchFamily="34" charset="-122"/>
                <a:cs typeface="JetBrains Mono Bold" pitchFamily="34" charset="-120"/>
              </a:rPr>
              <a:t>PascalCase</a:t>
            </a:r>
            <a:endParaRPr lang="en-US" sz="1900" dirty="0"/>
          </a:p>
        </p:txBody>
      </p:sp>
      <p:sp>
        <p:nvSpPr>
          <p:cNvPr id="8" name="Text 4"/>
          <p:cNvSpPr/>
          <p:nvPr/>
        </p:nvSpPr>
        <p:spPr>
          <a:xfrm>
            <a:off x="571500" y="3445408"/>
            <a:ext cx="3693961" cy="520043"/>
          </a:xfrm>
          <a:prstGeom prst="rect">
            <a:avLst/>
          </a:prstGeom>
          <a:noFill/>
          <a:ln/>
        </p:spPr>
        <p:txBody>
          <a:bodyPr wrap="square" lIns="0" tIns="0" rIns="0" bIns="0" rtlCol="0" anchor="t">
            <a:spAutoFit/>
          </a:bodyPr>
          <a:lstStyle/>
          <a:p>
            <a:pPr algn="l" indent="0" marL="0">
              <a:lnSpc>
                <a:spcPct val="104000"/>
              </a:lnSpc>
              <a:buNone/>
            </a:pPr>
            <a:r>
              <a:rPr lang="en-US" sz="1500" dirty="0">
                <a:solidFill>
                  <a:srgbClr val="000000"/>
                </a:solidFill>
                <a:latin typeface="Inter Light" pitchFamily="34" charset="0"/>
                <a:ea typeface="Inter Light" pitchFamily="34" charset="-122"/>
                <a:cs typeface="Inter Light" pitchFamily="34" charset="-120"/>
              </a:rPr>
              <a:t>Para tipos: Classes, Structs, Enums. Começa com maiúscula.</a:t>
            </a:r>
            <a:endParaRPr lang="en-US" sz="1500" dirty="0"/>
          </a:p>
        </p:txBody>
      </p:sp>
      <p:sp>
        <p:nvSpPr>
          <p:cNvPr id="9" name="Shape 5"/>
          <p:cNvSpPr/>
          <p:nvPr/>
        </p:nvSpPr>
        <p:spPr>
          <a:xfrm>
            <a:off x="4694086" y="1675209"/>
            <a:ext cx="3878414" cy="3214688"/>
          </a:xfrm>
          <a:prstGeom prst="rect">
            <a:avLst/>
          </a:prstGeom>
          <a:solidFill>
            <a:srgbClr val="FFFFFF"/>
          </a:solidFill>
          <a:ln w="45720">
            <a:solidFill>
              <a:srgbClr val="000000"/>
            </a:solidFill>
            <a:prstDash val="solid"/>
          </a:ln>
        </p:spPr>
      </p:sp>
      <p:sp>
        <p:nvSpPr>
          <p:cNvPr id="10" name="Text 6"/>
          <p:cNvSpPr/>
          <p:nvPr/>
        </p:nvSpPr>
        <p:spPr>
          <a:xfrm>
            <a:off x="5098042" y="2032397"/>
            <a:ext cx="3117270" cy="189309"/>
          </a:xfrm>
          <a:prstGeom prst="rect">
            <a:avLst/>
          </a:prstGeom>
          <a:noFill/>
          <a:ln/>
        </p:spPr>
        <p:txBody>
          <a:bodyPr wrap="square" lIns="0" tIns="0" rIns="0" bIns="0" rtlCol="0" anchor="t">
            <a:spAutoFit/>
          </a:bodyPr>
          <a:lstStyle/>
          <a:p>
            <a:pPr algn="l" indent="0" marL="0">
              <a:buNone/>
            </a:pPr>
            <a:r>
              <a:rPr lang="en-US" sz="1000" b="1" dirty="0">
                <a:solidFill>
                  <a:srgbClr val="000000"/>
                </a:solidFill>
                <a:latin typeface="JetBrains Mono Bold" pitchFamily="34" charset="0"/>
                <a:ea typeface="JetBrains Mono Bold" pitchFamily="34" charset="-122"/>
                <a:cs typeface="JetBrains Mono Bold" pitchFamily="34" charset="-120"/>
              </a:rPr>
              <a:t>✅ CORRETO</a:t>
            </a:r>
            <a:endParaRPr lang="en-US" sz="1000" dirty="0"/>
          </a:p>
        </p:txBody>
      </p:sp>
      <p:sp>
        <p:nvSpPr>
          <p:cNvPr id="11" name="Text 7"/>
          <p:cNvSpPr/>
          <p:nvPr/>
        </p:nvSpPr>
        <p:spPr>
          <a:xfrm>
            <a:off x="5098042" y="2293144"/>
            <a:ext cx="3117270" cy="226814"/>
          </a:xfrm>
          <a:prstGeom prst="rect">
            <a:avLst/>
          </a:prstGeom>
          <a:noFill/>
          <a:ln/>
        </p:spPr>
        <p:txBody>
          <a:bodyPr wrap="square" lIns="0" tIns="0" rIns="0" bIns="0" rtlCol="0" anchor="t">
            <a:spAutoFit/>
          </a:bodyPr>
          <a:lstStyle/>
          <a:p>
            <a:pPr algn="l" indent="0" marL="0">
              <a:buNone/>
            </a:pPr>
            <a:r>
              <a:rPr lang="en-US" sz="1200" b="1" dirty="0">
                <a:solidFill>
                  <a:srgbClr val="1E7E34"/>
                </a:solidFill>
                <a:latin typeface="JetBrains Mono Bold" pitchFamily="34" charset="0"/>
                <a:ea typeface="JetBrains Mono Bold" pitchFamily="34" charset="-122"/>
                <a:cs typeface="JetBrains Mono Bold" pitchFamily="34" charset="-120"/>
              </a:rPr>
              <a:t>var myVariable = 20</a:t>
            </a:r>
            <a:endParaRPr lang="en-US" sz="1200" dirty="0"/>
          </a:p>
        </p:txBody>
      </p:sp>
      <p:sp>
        <p:nvSpPr>
          <p:cNvPr id="12" name="Text 8"/>
          <p:cNvSpPr/>
          <p:nvPr/>
        </p:nvSpPr>
        <p:spPr>
          <a:xfrm>
            <a:off x="5098042" y="2627114"/>
            <a:ext cx="3117270" cy="226814"/>
          </a:xfrm>
          <a:prstGeom prst="rect">
            <a:avLst/>
          </a:prstGeom>
          <a:noFill/>
          <a:ln/>
        </p:spPr>
        <p:txBody>
          <a:bodyPr wrap="square" lIns="0" tIns="0" rIns="0" bIns="0" rtlCol="0" anchor="t">
            <a:spAutoFit/>
          </a:bodyPr>
          <a:lstStyle/>
          <a:p>
            <a:pPr algn="l" indent="0" marL="0">
              <a:buNone/>
            </a:pPr>
            <a:r>
              <a:rPr lang="en-US" sz="1200" b="1" dirty="0">
                <a:solidFill>
                  <a:srgbClr val="1E7E34"/>
                </a:solidFill>
                <a:latin typeface="JetBrains Mono Bold" pitchFamily="34" charset="0"/>
                <a:ea typeface="JetBrains Mono Bold" pitchFamily="34" charset="-122"/>
                <a:cs typeface="JetBrains Mono Bold" pitchFamily="34" charset="-120"/>
              </a:rPr>
              <a:t>let myConstant = 10</a:t>
            </a:r>
            <a:endParaRPr lang="en-US" sz="1200" dirty="0"/>
          </a:p>
        </p:txBody>
      </p:sp>
      <p:sp>
        <p:nvSpPr>
          <p:cNvPr id="13" name="Text 9"/>
          <p:cNvSpPr/>
          <p:nvPr/>
        </p:nvSpPr>
        <p:spPr>
          <a:xfrm>
            <a:off x="5098042" y="3139678"/>
            <a:ext cx="3117270" cy="189309"/>
          </a:xfrm>
          <a:prstGeom prst="rect">
            <a:avLst/>
          </a:prstGeom>
          <a:noFill/>
          <a:ln/>
        </p:spPr>
        <p:txBody>
          <a:bodyPr wrap="square" lIns="0" tIns="0" rIns="0" bIns="0" rtlCol="0" anchor="t">
            <a:spAutoFit/>
          </a:bodyPr>
          <a:lstStyle/>
          <a:p>
            <a:pPr algn="l" indent="0" marL="0">
              <a:buNone/>
            </a:pPr>
            <a:r>
              <a:rPr lang="en-US" sz="1000" b="1" dirty="0">
                <a:solidFill>
                  <a:srgbClr val="000000"/>
                </a:solidFill>
                <a:latin typeface="JetBrains Mono Bold" pitchFamily="34" charset="0"/>
                <a:ea typeface="JetBrains Mono Bold" pitchFamily="34" charset="-122"/>
                <a:cs typeface="JetBrains Mono Bold" pitchFamily="34" charset="-120"/>
              </a:rPr>
              <a:t>❌ INCORRETO</a:t>
            </a:r>
            <a:endParaRPr lang="en-US" sz="1000" dirty="0"/>
          </a:p>
        </p:txBody>
      </p:sp>
      <p:sp>
        <p:nvSpPr>
          <p:cNvPr id="14" name="Text 10"/>
          <p:cNvSpPr/>
          <p:nvPr/>
        </p:nvSpPr>
        <p:spPr>
          <a:xfrm>
            <a:off x="5098042" y="3400425"/>
            <a:ext cx="3117270" cy="226814"/>
          </a:xfrm>
          <a:prstGeom prst="rect">
            <a:avLst/>
          </a:prstGeom>
          <a:noFill/>
          <a:ln/>
        </p:spPr>
        <p:txBody>
          <a:bodyPr wrap="square" lIns="0" tIns="0" rIns="0" bIns="0" rtlCol="0" anchor="t">
            <a:spAutoFit/>
          </a:bodyPr>
          <a:lstStyle/>
          <a:p>
            <a:pPr algn="l" indent="0" marL="0">
              <a:buNone/>
            </a:pPr>
            <a:r>
              <a:rPr lang="en-US" sz="1200" b="1" dirty="0">
                <a:solidFill>
                  <a:srgbClr val="BD2130"/>
                </a:solidFill>
                <a:latin typeface="JetBrains Mono Bold" pitchFamily="34" charset="0"/>
                <a:ea typeface="JetBrains Mono Bold" pitchFamily="34" charset="-122"/>
                <a:cs typeface="JetBrains Mono Bold" pitchFamily="34" charset="-120"/>
              </a:rPr>
              <a:t>var usr_name = "Apple123"</a:t>
            </a:r>
            <a:endParaRPr lang="en-US" sz="1200" dirty="0"/>
          </a:p>
        </p:txBody>
      </p:sp>
      <p:sp>
        <p:nvSpPr>
          <p:cNvPr id="15" name="Text 11"/>
          <p:cNvSpPr/>
          <p:nvPr/>
        </p:nvSpPr>
        <p:spPr>
          <a:xfrm>
            <a:off x="5098042" y="3734395"/>
            <a:ext cx="3117270" cy="226814"/>
          </a:xfrm>
          <a:prstGeom prst="rect">
            <a:avLst/>
          </a:prstGeom>
          <a:noFill/>
          <a:ln/>
        </p:spPr>
        <p:txBody>
          <a:bodyPr wrap="square" lIns="0" tIns="0" rIns="0" bIns="0" rtlCol="0" anchor="t">
            <a:spAutoFit/>
          </a:bodyPr>
          <a:lstStyle/>
          <a:p>
            <a:pPr algn="l" indent="0" marL="0">
              <a:buNone/>
            </a:pPr>
            <a:r>
              <a:rPr lang="en-US" sz="1200" b="1" dirty="0">
                <a:solidFill>
                  <a:srgbClr val="BD2130"/>
                </a:solidFill>
                <a:latin typeface="JetBrains Mono Bold" pitchFamily="34" charset="0"/>
                <a:ea typeface="JetBrains Mono Bold" pitchFamily="34" charset="-122"/>
                <a:cs typeface="JetBrains Mono Bold" pitchFamily="34" charset="-120"/>
              </a:rPr>
              <a:t>let userprofile = "abc"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4375"/>
            <a:ext cx="8001000"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SEGURANÇA COM OPTIONALS</a:t>
            </a:r>
            <a:endParaRPr lang="en-US" sz="3300" dirty="0"/>
          </a:p>
        </p:txBody>
      </p:sp>
      <p:sp>
        <p:nvSpPr>
          <p:cNvPr id="5" name="Shape 1"/>
          <p:cNvSpPr/>
          <p:nvPr/>
        </p:nvSpPr>
        <p:spPr>
          <a:xfrm>
            <a:off x="571500" y="1603772"/>
            <a:ext cx="3857625" cy="2500313"/>
          </a:xfrm>
          <a:prstGeom prst="rect">
            <a:avLst/>
          </a:prstGeom>
          <a:solidFill>
            <a:srgbClr val="000000"/>
          </a:solidFill>
          <a:ln/>
        </p:spPr>
      </p:sp>
      <p:sp>
        <p:nvSpPr>
          <p:cNvPr id="6" name="Shape 2"/>
          <p:cNvSpPr/>
          <p:nvPr/>
        </p:nvSpPr>
        <p:spPr>
          <a:xfrm>
            <a:off x="571500" y="1603772"/>
            <a:ext cx="3857625" cy="71438"/>
          </a:xfrm>
          <a:prstGeom prst="rect">
            <a:avLst/>
          </a:prstGeom>
          <a:solidFill>
            <a:srgbClr val="F05138"/>
          </a:solidFill>
          <a:ln/>
        </p:spPr>
      </p:sp>
      <p:sp>
        <p:nvSpPr>
          <p:cNvPr id="7" name="Text 3"/>
          <p:cNvSpPr/>
          <p:nvPr/>
        </p:nvSpPr>
        <p:spPr>
          <a:xfrm>
            <a:off x="785813" y="1846659"/>
            <a:ext cx="1493044" cy="189309"/>
          </a:xfrm>
          <a:prstGeom prst="rect">
            <a:avLst/>
          </a:prstGeom>
          <a:noFill/>
          <a:ln/>
        </p:spPr>
        <p:txBody>
          <a:bodyPr wrap="square" lIns="0" tIns="0" rIns="0" bIns="0" rtlCol="0" anchor="t">
            <a:spAutoFit/>
          </a:bodyPr>
          <a:lstStyle/>
          <a:p>
            <a:pPr algn="l" indent="0" marL="0">
              <a:buNone/>
            </a:pPr>
            <a:r>
              <a:rPr lang="en-US" sz="1000" b="1" spc="2" kern="0" dirty="0">
                <a:solidFill>
                  <a:srgbClr val="F05138"/>
                </a:solidFill>
                <a:latin typeface="JetBrains Mono Bold" pitchFamily="34" charset="0"/>
                <a:ea typeface="JetBrains Mono Bold" pitchFamily="34" charset="-122"/>
                <a:cs typeface="JetBrains Mono Bold" pitchFamily="34" charset="-120"/>
              </a:rPr>
              <a:t>❌ PERIGOSO (!)</a:t>
            </a:r>
            <a:endParaRPr lang="en-US" sz="1000" dirty="0"/>
          </a:p>
        </p:txBody>
      </p:sp>
      <p:sp>
        <p:nvSpPr>
          <p:cNvPr id="8" name="Text 4"/>
          <p:cNvSpPr/>
          <p:nvPr/>
        </p:nvSpPr>
        <p:spPr>
          <a:xfrm>
            <a:off x="785813" y="2044898"/>
            <a:ext cx="3429000" cy="226814"/>
          </a:xfrm>
          <a:prstGeom prst="rect">
            <a:avLst/>
          </a:prstGeom>
          <a:noFill/>
          <a:ln/>
        </p:spPr>
        <p:txBody>
          <a:bodyPr wrap="square" lIns="0" tIns="0" rIns="0" bIns="0" rtlCol="0" anchor="t">
            <a:spAutoFit/>
          </a:bodyPr>
          <a:lstStyle/>
          <a:p>
            <a:pPr algn="l" indent="0" marL="0">
              <a:buNone/>
            </a:pPr>
            <a:r>
              <a:rPr lang="en-US" sz="1250" dirty="0">
                <a:solidFill>
                  <a:srgbClr val="FFFFFF"/>
                </a:solidFill>
                <a:latin typeface="JetBrains Mono Bold" pitchFamily="34" charset="0"/>
                <a:ea typeface="JetBrains Mono Bold" pitchFamily="34" charset="-122"/>
                <a:cs typeface="JetBrains Mono Bold" pitchFamily="34" charset="-120"/>
              </a:rPr>
              <a:t>// Se for nil, o app crasha</a:t>
            </a:r>
            <a:endParaRPr lang="en-US" sz="1250" dirty="0"/>
          </a:p>
        </p:txBody>
      </p:sp>
      <p:sp>
        <p:nvSpPr>
          <p:cNvPr id="9" name="Text 5"/>
          <p:cNvSpPr/>
          <p:nvPr/>
        </p:nvSpPr>
        <p:spPr>
          <a:xfrm>
            <a:off x="785813" y="2271713"/>
            <a:ext cx="3429000" cy="453628"/>
          </a:xfrm>
          <a:prstGeom prst="rect">
            <a:avLst/>
          </a:prstGeom>
          <a:noFill/>
          <a:ln/>
        </p:spPr>
        <p:txBody>
          <a:bodyPr wrap="square" lIns="0" tIns="0" rIns="0" bIns="0" rtlCol="0" anchor="t">
            <a:spAutoFit/>
          </a:bodyPr>
          <a:lstStyle/>
          <a:p>
            <a:pPr algn="l" indent="0" marL="0">
              <a:buNone/>
            </a:pPr>
            <a:r>
              <a:rPr lang="en-US" sz="1250" dirty="0">
                <a:solidFill>
                  <a:srgbClr val="F05138"/>
                </a:solidFill>
                <a:latin typeface="JetBrains Mono Bold" pitchFamily="34" charset="0"/>
                <a:ea typeface="JetBrains Mono Bold" pitchFamily="34" charset="-122"/>
                <a:cs typeface="JetBrains Mono Bold" pitchFamily="34" charset="-120"/>
              </a:rPr>
              <a:t>var</a:t>
            </a:r>
            <a:r>
              <a:rPr lang="en-US" sz="1250" dirty="0">
                <a:solidFill>
                  <a:srgbClr val="FFFFFF"/>
                </a:solidFill>
                <a:latin typeface="JetBrains Mono Bold" pitchFamily="34" charset="0"/>
                <a:ea typeface="JetBrains Mono Bold" pitchFamily="34" charset="-122"/>
                <a:cs typeface="JetBrains Mono Bold" pitchFamily="34" charset="-120"/>
              </a:rPr>
              <a:t> name: </a:t>
            </a:r>
            <a:r>
              <a:rPr lang="en-US" sz="1250" dirty="0">
                <a:solidFill>
                  <a:srgbClr val="FF9500"/>
                </a:solidFill>
                <a:latin typeface="JetBrains Mono Bold" pitchFamily="34" charset="0"/>
                <a:ea typeface="JetBrains Mono Bold" pitchFamily="34" charset="-122"/>
                <a:cs typeface="JetBrains Mono Bold" pitchFamily="34" charset="-120"/>
              </a:rPr>
              <a:t>String?</a:t>
            </a:r>
            <a:r>
              <a:rPr lang="en-US" sz="1250" dirty="0">
                <a:solidFill>
                  <a:srgbClr val="FFFFFF"/>
                </a:solidFill>
                <a:latin typeface="JetBrains Mono Bold" pitchFamily="34" charset="0"/>
                <a:ea typeface="JetBrains Mono Bold" pitchFamily="34" charset="-122"/>
                <a:cs typeface="JetBrains Mono Bold" pitchFamily="34" charset="-120"/>
              </a:rPr>
              <a:t> </a:t>
            </a:r>
            <a:r>
              <a:rPr lang="en-US" sz="1250" dirty="0">
                <a:solidFill>
                  <a:srgbClr val="000000"/>
                </a:solidFill>
                <a:latin typeface="JetBrains Mono Bold" pitchFamily="34" charset="0"/>
                <a:ea typeface="JetBrains Mono Bold" pitchFamily="34" charset="-122"/>
                <a:cs typeface="JetBrains Mono Bold" pitchFamily="34" charset="-120"/>
              </a:rPr>
              <a:t>= nil</a:t>
            </a:r>
            <a:r>
              <a:rPr lang="en-US" sz="1250" dirty="0">
                <a:solidFill>
                  <a:srgbClr val="FFFFFF"/>
                </a:solidFill>
                <a:latin typeface="JetBrains Mono Bold" pitchFamily="34" charset="0"/>
                <a:ea typeface="JetBrains Mono Bold" pitchFamily="34" charset="-122"/>
                <a:cs typeface="JetBrains Mono Bold" pitchFamily="34" charset="-120"/>
              </a:rPr>
              <a:t>
</a:t>
            </a:r>
            <a:r>
              <a:rPr lang="en-US" sz="1250" dirty="0">
                <a:solidFill>
                  <a:srgbClr val="F05138"/>
                </a:solidFill>
                <a:latin typeface="JetBrains Mono Bold" pitchFamily="34" charset="0"/>
                <a:ea typeface="JetBrains Mono Bold" pitchFamily="34" charset="-122"/>
                <a:cs typeface="JetBrains Mono Bold" pitchFamily="34" charset="-120"/>
              </a:rPr>
              <a:t>print</a:t>
            </a:r>
            <a:r>
              <a:rPr lang="en-US" sz="1250" dirty="0">
                <a:solidFill>
                  <a:srgbClr val="FFFFFF"/>
                </a:solidFill>
                <a:latin typeface="JetBrains Mono Bold" pitchFamily="34" charset="0"/>
                <a:ea typeface="JetBrains Mono Bold" pitchFamily="34" charset="-122"/>
                <a:cs typeface="JetBrains Mono Bold" pitchFamily="34" charset="-120"/>
              </a:rPr>
              <a:t>(name</a:t>
            </a:r>
            <a:r>
              <a:rPr lang="en-US" sz="1250" dirty="0">
                <a:solidFill>
                  <a:srgbClr val="F05138"/>
                </a:solidFill>
                <a:latin typeface="JetBrains Mono Bold" pitchFamily="34" charset="0"/>
                <a:ea typeface="JetBrains Mono Bold" pitchFamily="34" charset="-122"/>
                <a:cs typeface="JetBrains Mono Bold" pitchFamily="34" charset="-120"/>
              </a:rPr>
              <a:t>!</a:t>
            </a:r>
            <a:r>
              <a:rPr lang="en-US" sz="1250" dirty="0">
                <a:solidFill>
                  <a:srgbClr val="FFFFFF"/>
                </a:solidFill>
                <a:latin typeface="JetBrains Mono Bold" pitchFamily="34" charset="0"/>
                <a:ea typeface="JetBrains Mono Bold" pitchFamily="34" charset="-122"/>
                <a:cs typeface="JetBrains Mono Bold" pitchFamily="34" charset="-120"/>
              </a:rPr>
              <a:t>)</a:t>
            </a:r>
            <a:endParaRPr lang="en-US" sz="1250" dirty="0"/>
          </a:p>
        </p:txBody>
      </p:sp>
      <p:sp>
        <p:nvSpPr>
          <p:cNvPr id="10" name="Shape 6"/>
          <p:cNvSpPr/>
          <p:nvPr/>
        </p:nvSpPr>
        <p:spPr>
          <a:xfrm>
            <a:off x="4714875" y="1603772"/>
            <a:ext cx="3857625" cy="2500313"/>
          </a:xfrm>
          <a:prstGeom prst="rect">
            <a:avLst/>
          </a:prstGeom>
          <a:solidFill>
            <a:srgbClr val="000000"/>
          </a:solidFill>
          <a:ln/>
        </p:spPr>
      </p:sp>
      <p:sp>
        <p:nvSpPr>
          <p:cNvPr id="11" name="Shape 7"/>
          <p:cNvSpPr/>
          <p:nvPr/>
        </p:nvSpPr>
        <p:spPr>
          <a:xfrm>
            <a:off x="4714875" y="1603772"/>
            <a:ext cx="3857625" cy="71438"/>
          </a:xfrm>
          <a:prstGeom prst="rect">
            <a:avLst/>
          </a:prstGeom>
          <a:solidFill>
            <a:srgbClr val="1E7E34"/>
          </a:solidFill>
          <a:ln/>
        </p:spPr>
      </p:sp>
      <p:sp>
        <p:nvSpPr>
          <p:cNvPr id="12" name="Text 8"/>
          <p:cNvSpPr/>
          <p:nvPr/>
        </p:nvSpPr>
        <p:spPr>
          <a:xfrm>
            <a:off x="4929188" y="1818084"/>
            <a:ext cx="3429000" cy="189309"/>
          </a:xfrm>
          <a:prstGeom prst="rect">
            <a:avLst/>
          </a:prstGeom>
          <a:noFill/>
          <a:ln/>
        </p:spPr>
        <p:txBody>
          <a:bodyPr wrap="square" lIns="0" tIns="0" rIns="0" bIns="0" rtlCol="0" anchor="t">
            <a:spAutoFit/>
          </a:bodyPr>
          <a:lstStyle/>
          <a:p>
            <a:pPr algn="l" indent="0" marL="0">
              <a:buNone/>
            </a:pPr>
            <a:r>
              <a:rPr lang="en-US" sz="1000" b="1" spc="2" kern="0" dirty="0">
                <a:solidFill>
                  <a:srgbClr val="1E7E34"/>
                </a:solidFill>
                <a:latin typeface="JetBrains Mono Bold" pitchFamily="34" charset="0"/>
                <a:ea typeface="JetBrains Mono Bold" pitchFamily="34" charset="-122"/>
                <a:cs typeface="JetBrains Mono Bold" pitchFamily="34" charset="-120"/>
              </a:rPr>
              <a:t>✅ SEGURO (IF LET)</a:t>
            </a:r>
            <a:endParaRPr lang="en-US" sz="1000" dirty="0"/>
          </a:p>
        </p:txBody>
      </p:sp>
      <p:sp>
        <p:nvSpPr>
          <p:cNvPr id="13" name="Text 9"/>
          <p:cNvSpPr/>
          <p:nvPr/>
        </p:nvSpPr>
        <p:spPr>
          <a:xfrm>
            <a:off x="4929188" y="2150269"/>
            <a:ext cx="3429000" cy="226814"/>
          </a:xfrm>
          <a:prstGeom prst="rect">
            <a:avLst/>
          </a:prstGeom>
          <a:noFill/>
          <a:ln/>
        </p:spPr>
        <p:txBody>
          <a:bodyPr wrap="square" lIns="0" tIns="0" rIns="0" bIns="0" rtlCol="0" anchor="t">
            <a:spAutoFit/>
          </a:bodyPr>
          <a:lstStyle/>
          <a:p>
            <a:pPr algn="l" indent="0" marL="0">
              <a:buNone/>
            </a:pPr>
            <a:r>
              <a:rPr lang="en-US" sz="1250" dirty="0">
                <a:solidFill>
                  <a:srgbClr val="888888"/>
                </a:solidFill>
                <a:latin typeface="JetBrains Mono Bold" pitchFamily="34" charset="0"/>
                <a:ea typeface="JetBrains Mono Bold" pitchFamily="34" charset="-122"/>
                <a:cs typeface="JetBrains Mono Bold" pitchFamily="34" charset="-120"/>
              </a:rPr>
              <a:t>// Só executa se houver valor</a:t>
            </a:r>
            <a:endParaRPr lang="en-US" sz="1250" dirty="0"/>
          </a:p>
        </p:txBody>
      </p:sp>
      <p:sp>
        <p:nvSpPr>
          <p:cNvPr id="14" name="Text 10"/>
          <p:cNvSpPr/>
          <p:nvPr/>
        </p:nvSpPr>
        <p:spPr>
          <a:xfrm>
            <a:off x="4929188" y="2377083"/>
            <a:ext cx="621506" cy="226814"/>
          </a:xfrm>
          <a:prstGeom prst="rect">
            <a:avLst/>
          </a:prstGeom>
          <a:noFill/>
          <a:ln/>
        </p:spPr>
        <p:txBody>
          <a:bodyPr wrap="none" lIns="0" tIns="0" rIns="0" bIns="0" rtlCol="0" anchor="t">
            <a:spAutoFit/>
          </a:bodyPr>
          <a:lstStyle/>
          <a:p>
            <a:pPr algn="l" indent="0" marL="0">
              <a:buNone/>
            </a:pPr>
            <a:r>
              <a:rPr lang="en-US" sz="1250" dirty="0">
                <a:solidFill>
                  <a:srgbClr val="F05138"/>
                </a:solidFill>
                <a:latin typeface="JetBrains Mono Bold" pitchFamily="34" charset="0"/>
                <a:ea typeface="JetBrains Mono Bold" pitchFamily="34" charset="-122"/>
                <a:cs typeface="JetBrains Mono Bold" pitchFamily="34" charset="-120"/>
              </a:rPr>
              <a:t>if let</a:t>
            </a:r>
            <a:endParaRPr lang="en-US" sz="1250" dirty="0"/>
          </a:p>
        </p:txBody>
      </p:sp>
      <p:sp>
        <p:nvSpPr>
          <p:cNvPr id="15" name="Text 11"/>
          <p:cNvSpPr/>
          <p:nvPr/>
        </p:nvSpPr>
        <p:spPr>
          <a:xfrm>
            <a:off x="5550694" y="2377083"/>
            <a:ext cx="2382441" cy="226814"/>
          </a:xfrm>
          <a:prstGeom prst="rect">
            <a:avLst/>
          </a:prstGeom>
          <a:noFill/>
          <a:ln/>
        </p:spPr>
        <p:txBody>
          <a:bodyPr wrap="square" lIns="0" tIns="0" rIns="0" bIns="0" rtlCol="0" anchor="t">
            <a:spAutoFit/>
          </a:bodyPr>
          <a:lstStyle/>
          <a:p>
            <a:pPr algn="l" indent="0" marL="0">
              <a:buNone/>
            </a:pPr>
            <a:r>
              <a:rPr lang="en-US" sz="1250" dirty="0">
                <a:solidFill>
                  <a:srgbClr val="FFFFFF"/>
                </a:solidFill>
                <a:latin typeface="JetBrains Mono Bold" pitchFamily="34" charset="0"/>
                <a:ea typeface="JetBrains Mono Bold" pitchFamily="34" charset="-122"/>
                <a:cs typeface="JetBrains Mono Bold" pitchFamily="34" charset="-120"/>
              </a:rPr>
              <a:t>unwrappedName = name {</a:t>
            </a:r>
            <a:endParaRPr lang="en-US" sz="1250" dirty="0"/>
          </a:p>
        </p:txBody>
      </p:sp>
      <p:sp>
        <p:nvSpPr>
          <p:cNvPr id="16" name="Text 12"/>
          <p:cNvSpPr/>
          <p:nvPr/>
        </p:nvSpPr>
        <p:spPr>
          <a:xfrm>
            <a:off x="4929188" y="2603897"/>
            <a:ext cx="517922" cy="226814"/>
          </a:xfrm>
          <a:prstGeom prst="rect">
            <a:avLst/>
          </a:prstGeom>
          <a:noFill/>
          <a:ln/>
        </p:spPr>
        <p:txBody>
          <a:bodyPr wrap="none" lIns="0" tIns="0" rIns="0" bIns="0" rtlCol="0" anchor="t">
            <a:spAutoFit/>
          </a:bodyPr>
          <a:lstStyle/>
          <a:p>
            <a:pPr algn="l" indent="0" marL="0">
              <a:buNone/>
            </a:pPr>
            <a:r>
              <a:rPr lang="en-US" sz="1250" dirty="0">
                <a:solidFill>
                  <a:srgbClr val="F05138"/>
                </a:solidFill>
                <a:latin typeface="JetBrains Mono Bold" pitchFamily="34" charset="0"/>
                <a:ea typeface="JetBrains Mono Bold" pitchFamily="34" charset="-122"/>
                <a:cs typeface="JetBrains Mono Bold" pitchFamily="34" charset="-120"/>
              </a:rPr>
              <a:t>print</a:t>
            </a:r>
            <a:endParaRPr lang="en-US" sz="1250" dirty="0"/>
          </a:p>
        </p:txBody>
      </p:sp>
      <p:sp>
        <p:nvSpPr>
          <p:cNvPr id="17" name="Text 13"/>
          <p:cNvSpPr/>
          <p:nvPr/>
        </p:nvSpPr>
        <p:spPr>
          <a:xfrm>
            <a:off x="5447109" y="2603897"/>
            <a:ext cx="1553766" cy="226814"/>
          </a:xfrm>
          <a:prstGeom prst="rect">
            <a:avLst/>
          </a:prstGeom>
          <a:noFill/>
          <a:ln/>
        </p:spPr>
        <p:txBody>
          <a:bodyPr wrap="square" lIns="0" tIns="0" rIns="0" bIns="0" rtlCol="0" anchor="t">
            <a:spAutoFit/>
          </a:bodyPr>
          <a:lstStyle/>
          <a:p>
            <a:pPr algn="l" indent="0" marL="0">
              <a:buNone/>
            </a:pPr>
            <a:r>
              <a:rPr lang="en-US" sz="1250" dirty="0">
                <a:solidFill>
                  <a:srgbClr val="FFFFFF"/>
                </a:solidFill>
                <a:latin typeface="JetBrains Mono Bold" pitchFamily="34" charset="0"/>
                <a:ea typeface="JetBrains Mono Bold" pitchFamily="34" charset="-122"/>
                <a:cs typeface="JetBrains Mono Bold" pitchFamily="34" charset="-120"/>
              </a:rPr>
              <a:t>(unwrappedName)</a:t>
            </a:r>
            <a:endParaRPr lang="en-US" sz="1250" dirty="0"/>
          </a:p>
        </p:txBody>
      </p:sp>
      <p:sp>
        <p:nvSpPr>
          <p:cNvPr id="18" name="Text 14"/>
          <p:cNvSpPr/>
          <p:nvPr/>
        </p:nvSpPr>
        <p:spPr>
          <a:xfrm>
            <a:off x="4929188" y="2830711"/>
            <a:ext cx="103584" cy="226814"/>
          </a:xfrm>
          <a:prstGeom prst="rect">
            <a:avLst/>
          </a:prstGeom>
          <a:noFill/>
          <a:ln/>
        </p:spPr>
        <p:txBody>
          <a:bodyPr wrap="none" lIns="0" tIns="0" rIns="0" bIns="0" rtlCol="0" anchor="t">
            <a:spAutoFit/>
          </a:bodyPr>
          <a:lstStyle/>
          <a:p>
            <a:pPr algn="l" indent="0" marL="0">
              <a:buNone/>
            </a:pPr>
            <a:r>
              <a:rPr lang="en-US" sz="1250" dirty="0">
                <a:solidFill>
                  <a:srgbClr val="FFFFFF"/>
                </a:solidFill>
                <a:latin typeface="JetBrains Mono Bold" pitchFamily="34" charset="0"/>
                <a:ea typeface="JetBrains Mono Bold" pitchFamily="34" charset="-122"/>
                <a:cs typeface="JetBrains Mono Bold" pitchFamily="34" charset="-120"/>
              </a:rPr>
              <a:t>}</a:t>
            </a:r>
            <a:endParaRPr lang="en-US" sz="1250" dirty="0"/>
          </a:p>
        </p:txBody>
      </p:sp>
      <p:sp>
        <p:nvSpPr>
          <p:cNvPr id="19" name="Text 15"/>
          <p:cNvSpPr/>
          <p:nvPr/>
        </p:nvSpPr>
        <p:spPr>
          <a:xfrm>
            <a:off x="571500" y="4318397"/>
            <a:ext cx="8001000" cy="485775"/>
          </a:xfrm>
          <a:prstGeom prst="rect">
            <a:avLst/>
          </a:prstGeom>
          <a:noFill/>
          <a:ln/>
        </p:spPr>
        <p:txBody>
          <a:bodyPr wrap="square" lIns="170053" tIns="0" rIns="0" bIns="0" rtlCol="0" anchor="t">
            <a:spAutoFit/>
          </a:bodyPr>
          <a:lstStyle/>
          <a:p>
            <a:pPr algn="l" indent="0" marL="0">
              <a:buNone/>
            </a:pPr>
            <a:r>
              <a:rPr lang="en-US" sz="1400" b="1" i="1" dirty="0">
                <a:solidFill>
                  <a:srgbClr val="000000"/>
                </a:solidFill>
                <a:latin typeface="Inter Bold" pitchFamily="34" charset="0"/>
                <a:ea typeface="Inter Bold" pitchFamily="34" charset="-122"/>
                <a:cs typeface="Inter Bold" pitchFamily="34" charset="-120"/>
              </a:rPr>
              <a:t>“Se você usa force unwrap (!) em tudo, o problema não é o compilador… é confiança demais.”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88148"/>
          </a:xfrm>
          <a:prstGeom prst="rect">
            <a:avLst/>
          </a:prstGeom>
        </p:spPr>
      </p:pic>
      <p:sp>
        <p:nvSpPr>
          <p:cNvPr id="4" name="Text 0"/>
          <p:cNvSpPr/>
          <p:nvPr/>
        </p:nvSpPr>
        <p:spPr>
          <a:xfrm>
            <a:off x="2669919" y="873400"/>
            <a:ext cx="6090186"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ONDE A MÁGICA ACONTECE</a:t>
            </a:r>
            <a:endParaRPr lang="en-US" sz="3300" dirty="0"/>
          </a:p>
        </p:txBody>
      </p:sp>
      <p:sp>
        <p:nvSpPr>
          <p:cNvPr id="5" name="Shape 1"/>
          <p:cNvSpPr/>
          <p:nvPr/>
        </p:nvSpPr>
        <p:spPr>
          <a:xfrm>
            <a:off x="714375" y="1675209"/>
            <a:ext cx="857250" cy="857250"/>
          </a:xfrm>
          <a:prstGeom prst="rect">
            <a:avLst/>
          </a:prstGeom>
          <a:solidFill>
            <a:srgbClr val="FFFFFF"/>
          </a:solidFill>
          <a:ln w="45720">
            <a:solidFill>
              <a:srgbClr val="000000"/>
            </a:solidFill>
            <a:prstDash val="solid"/>
          </a:ln>
        </p:spPr>
      </p:sp>
      <p:pic>
        <p:nvPicPr>
          <p:cNvPr id="6" name="Image 1" descr="preencoded.png">    </p:cNvPr>
          <p:cNvPicPr>
            <a:picLocks noChangeAspect="1"/>
          </p:cNvPicPr>
          <p:nvPr/>
        </p:nvPicPr>
        <p:blipFill>
          <a:blip r:embed="rId2"/>
          <a:stretch>
            <a:fillRect/>
          </a:stretch>
        </p:blipFill>
        <p:spPr>
          <a:xfrm>
            <a:off x="982266" y="1889522"/>
            <a:ext cx="321469" cy="428625"/>
          </a:xfrm>
          <a:prstGeom prst="rect">
            <a:avLst/>
          </a:prstGeom>
        </p:spPr>
      </p:pic>
      <p:sp>
        <p:nvSpPr>
          <p:cNvPr id="7" name="Text 2"/>
          <p:cNvSpPr/>
          <p:nvPr/>
        </p:nvSpPr>
        <p:spPr>
          <a:xfrm>
            <a:off x="571500" y="2711053"/>
            <a:ext cx="1143000" cy="226814"/>
          </a:xfrm>
          <a:prstGeom prst="rect">
            <a:avLst/>
          </a:prstGeom>
          <a:noFill/>
          <a:ln/>
        </p:spPr>
        <p:txBody>
          <a:bodyPr wrap="none" lIns="0" tIns="0" rIns="0" bIns="0" rtlCol="0" anchor="t">
            <a:spAutoFit/>
          </a:bodyPr>
          <a:lstStyle/>
          <a:p>
            <a:pPr algn="ctr" indent="0" marL="0">
              <a:buNone/>
            </a:pPr>
            <a:r>
              <a:rPr lang="en-US" sz="1200" b="1" dirty="0">
                <a:solidFill>
                  <a:srgbClr val="000000"/>
                </a:solidFill>
                <a:latin typeface="JetBrains Mono Bold" pitchFamily="34" charset="0"/>
                <a:ea typeface="JetBrains Mono Bold" pitchFamily="34" charset="-122"/>
                <a:cs typeface="JetBrains Mono Bold" pitchFamily="34" charset="-120"/>
              </a:rPr>
              <a:t>iOS</a:t>
            </a:r>
            <a:endParaRPr lang="en-US" sz="1200" dirty="0"/>
          </a:p>
        </p:txBody>
      </p:sp>
      <p:sp>
        <p:nvSpPr>
          <p:cNvPr id="8" name="Shape 3"/>
          <p:cNvSpPr/>
          <p:nvPr/>
        </p:nvSpPr>
        <p:spPr>
          <a:xfrm>
            <a:off x="2428875" y="1675209"/>
            <a:ext cx="857250" cy="857250"/>
          </a:xfrm>
          <a:prstGeom prst="rect">
            <a:avLst/>
          </a:prstGeom>
          <a:solidFill>
            <a:srgbClr val="FFFFFF"/>
          </a:solidFill>
          <a:ln w="45720">
            <a:solidFill>
              <a:srgbClr val="000000"/>
            </a:solidFill>
            <a:prstDash val="solid"/>
          </a:ln>
        </p:spPr>
      </p:sp>
      <p:pic>
        <p:nvPicPr>
          <p:cNvPr id="9" name="Image 2" descr="preencoded.png">    </p:cNvPr>
          <p:cNvPicPr>
            <a:picLocks noChangeAspect="1"/>
          </p:cNvPicPr>
          <p:nvPr/>
        </p:nvPicPr>
        <p:blipFill>
          <a:blip r:embed="rId3"/>
          <a:stretch>
            <a:fillRect/>
          </a:stretch>
        </p:blipFill>
        <p:spPr>
          <a:xfrm>
            <a:off x="2589609" y="1889522"/>
            <a:ext cx="535781" cy="428625"/>
          </a:xfrm>
          <a:prstGeom prst="rect">
            <a:avLst/>
          </a:prstGeom>
        </p:spPr>
      </p:pic>
      <p:sp>
        <p:nvSpPr>
          <p:cNvPr id="10" name="Text 4"/>
          <p:cNvSpPr/>
          <p:nvPr/>
        </p:nvSpPr>
        <p:spPr>
          <a:xfrm>
            <a:off x="2286000" y="2711053"/>
            <a:ext cx="1143000" cy="226814"/>
          </a:xfrm>
          <a:prstGeom prst="rect">
            <a:avLst/>
          </a:prstGeom>
          <a:noFill/>
          <a:ln/>
        </p:spPr>
        <p:txBody>
          <a:bodyPr wrap="none" lIns="0" tIns="0" rIns="0" bIns="0" rtlCol="0" anchor="t">
            <a:spAutoFit/>
          </a:bodyPr>
          <a:lstStyle/>
          <a:p>
            <a:pPr algn="ctr" indent="0" marL="0">
              <a:buNone/>
            </a:pPr>
            <a:r>
              <a:rPr lang="en-US" sz="1200" b="1" dirty="0">
                <a:solidFill>
                  <a:srgbClr val="000000"/>
                </a:solidFill>
                <a:latin typeface="JetBrains Mono Bold" pitchFamily="34" charset="0"/>
                <a:ea typeface="JetBrains Mono Bold" pitchFamily="34" charset="-122"/>
                <a:cs typeface="JetBrains Mono Bold" pitchFamily="34" charset="-120"/>
              </a:rPr>
              <a:t>macOS</a:t>
            </a:r>
            <a:endParaRPr lang="en-US" sz="1200" dirty="0"/>
          </a:p>
        </p:txBody>
      </p:sp>
      <p:sp>
        <p:nvSpPr>
          <p:cNvPr id="11" name="Shape 5"/>
          <p:cNvSpPr/>
          <p:nvPr/>
        </p:nvSpPr>
        <p:spPr>
          <a:xfrm>
            <a:off x="4143375" y="1675209"/>
            <a:ext cx="857250" cy="857250"/>
          </a:xfrm>
          <a:prstGeom prst="rect">
            <a:avLst/>
          </a:prstGeom>
          <a:solidFill>
            <a:srgbClr val="FFFFFF"/>
          </a:solidFill>
          <a:ln w="45720">
            <a:solidFill>
              <a:srgbClr val="000000"/>
            </a:solidFill>
            <a:prstDash val="solid"/>
          </a:ln>
        </p:spPr>
      </p:sp>
      <p:pic>
        <p:nvPicPr>
          <p:cNvPr id="12" name="Image 3" descr="preencoded.png">    </p:cNvPr>
          <p:cNvPicPr>
            <a:picLocks noChangeAspect="1"/>
          </p:cNvPicPr>
          <p:nvPr/>
        </p:nvPicPr>
        <p:blipFill>
          <a:blip r:embed="rId4"/>
          <a:stretch>
            <a:fillRect/>
          </a:stretch>
        </p:blipFill>
        <p:spPr>
          <a:xfrm>
            <a:off x="4357688" y="1889522"/>
            <a:ext cx="428625" cy="428625"/>
          </a:xfrm>
          <a:prstGeom prst="rect">
            <a:avLst/>
          </a:prstGeom>
        </p:spPr>
      </p:pic>
      <p:sp>
        <p:nvSpPr>
          <p:cNvPr id="13" name="Text 6"/>
          <p:cNvSpPr/>
          <p:nvPr/>
        </p:nvSpPr>
        <p:spPr>
          <a:xfrm>
            <a:off x="4000500" y="2711053"/>
            <a:ext cx="1143000" cy="226814"/>
          </a:xfrm>
          <a:prstGeom prst="rect">
            <a:avLst/>
          </a:prstGeom>
          <a:noFill/>
          <a:ln/>
        </p:spPr>
        <p:txBody>
          <a:bodyPr wrap="none" lIns="0" tIns="0" rIns="0" bIns="0" rtlCol="0" anchor="t">
            <a:spAutoFit/>
          </a:bodyPr>
          <a:lstStyle/>
          <a:p>
            <a:pPr algn="ctr" indent="0" marL="0">
              <a:buNone/>
            </a:pPr>
            <a:r>
              <a:rPr lang="en-US" sz="1200" b="1" dirty="0">
                <a:solidFill>
                  <a:srgbClr val="000000"/>
                </a:solidFill>
                <a:latin typeface="JetBrains Mono Bold" pitchFamily="34" charset="0"/>
                <a:ea typeface="JetBrains Mono Bold" pitchFamily="34" charset="-122"/>
                <a:cs typeface="JetBrains Mono Bold" pitchFamily="34" charset="-120"/>
              </a:rPr>
              <a:t>watchOS</a:t>
            </a:r>
            <a:endParaRPr lang="en-US" sz="1200" dirty="0"/>
          </a:p>
        </p:txBody>
      </p:sp>
      <p:sp>
        <p:nvSpPr>
          <p:cNvPr id="14" name="Shape 7"/>
          <p:cNvSpPr/>
          <p:nvPr/>
        </p:nvSpPr>
        <p:spPr>
          <a:xfrm>
            <a:off x="5857875" y="1675209"/>
            <a:ext cx="857250" cy="857250"/>
          </a:xfrm>
          <a:prstGeom prst="rect">
            <a:avLst/>
          </a:prstGeom>
          <a:solidFill>
            <a:srgbClr val="FFFFFF"/>
          </a:solidFill>
          <a:ln w="45720">
            <a:solidFill>
              <a:srgbClr val="000000"/>
            </a:solidFill>
            <a:prstDash val="solid"/>
          </a:ln>
        </p:spPr>
      </p:sp>
      <p:pic>
        <p:nvPicPr>
          <p:cNvPr id="15" name="Image 4" descr="preencoded.png">    </p:cNvPr>
          <p:cNvPicPr>
            <a:picLocks noChangeAspect="1"/>
          </p:cNvPicPr>
          <p:nvPr/>
        </p:nvPicPr>
        <p:blipFill>
          <a:blip r:embed="rId5"/>
          <a:stretch>
            <a:fillRect/>
          </a:stretch>
        </p:blipFill>
        <p:spPr>
          <a:xfrm>
            <a:off x="6018609" y="1889522"/>
            <a:ext cx="535781" cy="428625"/>
          </a:xfrm>
          <a:prstGeom prst="rect">
            <a:avLst/>
          </a:prstGeom>
        </p:spPr>
      </p:pic>
      <p:sp>
        <p:nvSpPr>
          <p:cNvPr id="16" name="Text 8"/>
          <p:cNvSpPr/>
          <p:nvPr/>
        </p:nvSpPr>
        <p:spPr>
          <a:xfrm>
            <a:off x="5715000" y="2711053"/>
            <a:ext cx="1143000" cy="226814"/>
          </a:xfrm>
          <a:prstGeom prst="rect">
            <a:avLst/>
          </a:prstGeom>
          <a:noFill/>
          <a:ln/>
        </p:spPr>
        <p:txBody>
          <a:bodyPr wrap="none" lIns="0" tIns="0" rIns="0" bIns="0" rtlCol="0" anchor="t">
            <a:spAutoFit/>
          </a:bodyPr>
          <a:lstStyle/>
          <a:p>
            <a:pPr algn="ctr" indent="0" marL="0">
              <a:buNone/>
            </a:pPr>
            <a:r>
              <a:rPr lang="en-US" sz="1200" b="1" dirty="0">
                <a:solidFill>
                  <a:srgbClr val="000000"/>
                </a:solidFill>
                <a:latin typeface="JetBrains Mono Bold" pitchFamily="34" charset="0"/>
                <a:ea typeface="JetBrains Mono Bold" pitchFamily="34" charset="-122"/>
                <a:cs typeface="JetBrains Mono Bold" pitchFamily="34" charset="-120"/>
              </a:rPr>
              <a:t>tvOS</a:t>
            </a:r>
            <a:endParaRPr lang="en-US" sz="1200" dirty="0"/>
          </a:p>
        </p:txBody>
      </p:sp>
      <p:sp>
        <p:nvSpPr>
          <p:cNvPr id="17" name="Shape 9"/>
          <p:cNvSpPr/>
          <p:nvPr/>
        </p:nvSpPr>
        <p:spPr>
          <a:xfrm>
            <a:off x="7572375" y="1675209"/>
            <a:ext cx="857250" cy="857250"/>
          </a:xfrm>
          <a:prstGeom prst="rect">
            <a:avLst/>
          </a:prstGeom>
          <a:solidFill>
            <a:srgbClr val="FFFFFF"/>
          </a:solidFill>
          <a:ln w="45720">
            <a:solidFill>
              <a:srgbClr val="000000"/>
            </a:solidFill>
            <a:prstDash val="solid"/>
          </a:ln>
        </p:spPr>
      </p:sp>
      <p:pic>
        <p:nvPicPr>
          <p:cNvPr id="18" name="Image 5" descr="preencoded.png">    </p:cNvPr>
          <p:cNvPicPr>
            <a:picLocks noChangeAspect="1"/>
          </p:cNvPicPr>
          <p:nvPr/>
        </p:nvPicPr>
        <p:blipFill>
          <a:blip r:embed="rId6"/>
          <a:stretch>
            <a:fillRect/>
          </a:stretch>
        </p:blipFill>
        <p:spPr>
          <a:xfrm>
            <a:off x="7733109" y="1889522"/>
            <a:ext cx="535781" cy="428625"/>
          </a:xfrm>
          <a:prstGeom prst="rect">
            <a:avLst/>
          </a:prstGeom>
        </p:spPr>
      </p:pic>
      <p:sp>
        <p:nvSpPr>
          <p:cNvPr id="19" name="Text 10"/>
          <p:cNvSpPr/>
          <p:nvPr/>
        </p:nvSpPr>
        <p:spPr>
          <a:xfrm>
            <a:off x="7429500" y="2711053"/>
            <a:ext cx="1143000" cy="226814"/>
          </a:xfrm>
          <a:prstGeom prst="rect">
            <a:avLst/>
          </a:prstGeom>
          <a:noFill/>
          <a:ln/>
        </p:spPr>
        <p:txBody>
          <a:bodyPr wrap="none" lIns="0" tIns="0" rIns="0" bIns="0" rtlCol="0" anchor="t">
            <a:spAutoFit/>
          </a:bodyPr>
          <a:lstStyle/>
          <a:p>
            <a:pPr algn="ctr" indent="0" marL="0">
              <a:buNone/>
            </a:pPr>
            <a:r>
              <a:rPr lang="en-US" sz="1200" b="1" dirty="0">
                <a:solidFill>
                  <a:srgbClr val="000000"/>
                </a:solidFill>
                <a:latin typeface="JetBrains Mono Bold" pitchFamily="34" charset="0"/>
                <a:ea typeface="JetBrains Mono Bold" pitchFamily="34" charset="-122"/>
                <a:cs typeface="JetBrains Mono Bold" pitchFamily="34" charset="-120"/>
              </a:rPr>
              <a:t>visionOS</a:t>
            </a:r>
            <a:endParaRPr lang="en-US" sz="1200" dirty="0"/>
          </a:p>
        </p:txBody>
      </p:sp>
      <p:sp>
        <p:nvSpPr>
          <p:cNvPr id="20" name="Shape 11"/>
          <p:cNvSpPr/>
          <p:nvPr/>
        </p:nvSpPr>
        <p:spPr>
          <a:xfrm>
            <a:off x="0" y="3616523"/>
            <a:ext cx="8215313" cy="1571625"/>
          </a:xfrm>
          <a:prstGeom prst="rect">
            <a:avLst/>
          </a:prstGeom>
          <a:solidFill>
            <a:srgbClr val="000000"/>
          </a:solidFill>
          <a:ln/>
        </p:spPr>
      </p:sp>
      <p:sp>
        <p:nvSpPr>
          <p:cNvPr id="21" name="Text 12"/>
          <p:cNvSpPr/>
          <p:nvPr/>
        </p:nvSpPr>
        <p:spPr>
          <a:xfrm>
            <a:off x="357188" y="3986213"/>
            <a:ext cx="2500313" cy="832247"/>
          </a:xfrm>
          <a:prstGeom prst="rect">
            <a:avLst/>
          </a:prstGeom>
          <a:noFill/>
          <a:ln/>
        </p:spPr>
        <p:txBody>
          <a:bodyPr wrap="square" lIns="0" tIns="0" rIns="0" bIns="0" rtlCol="0" anchor="t">
            <a:spAutoFit/>
          </a:bodyPr>
          <a:lstStyle/>
          <a:p>
            <a:pPr algn="l" indent="0" marL="0">
              <a:buNone/>
            </a:pPr>
            <a:r>
              <a:rPr lang="en-US" sz="2250" b="1" dirty="0">
                <a:solidFill>
                  <a:srgbClr val="FF9500"/>
                </a:solidFill>
                <a:latin typeface="JetBrains Mono Bold" pitchFamily="34" charset="0"/>
                <a:ea typeface="JetBrains Mono Bold" pitchFamily="34" charset="-122"/>
                <a:cs typeface="JetBrains Mono Bold" pitchFamily="34" charset="-120"/>
              </a:rPr>
              <a:t>ALÉM DO DEVICE</a:t>
            </a:r>
            <a:endParaRPr lang="en-US" sz="2250" dirty="0"/>
          </a:p>
        </p:txBody>
      </p:sp>
      <p:sp>
        <p:nvSpPr>
          <p:cNvPr id="22" name="Text 13"/>
          <p:cNvSpPr/>
          <p:nvPr/>
        </p:nvSpPr>
        <p:spPr>
          <a:xfrm>
            <a:off x="3214688" y="3984427"/>
            <a:ext cx="4643438" cy="835819"/>
          </a:xfrm>
          <a:prstGeom prst="rect">
            <a:avLst/>
          </a:prstGeom>
          <a:noFill/>
          <a:ln/>
        </p:spPr>
        <p:txBody>
          <a:bodyPr wrap="square" lIns="0" tIns="0" rIns="0" bIns="0" rtlCol="0" anchor="t">
            <a:spAutoFit/>
          </a:bodyPr>
          <a:lstStyle/>
          <a:p>
            <a:pPr algn="l" indent="0" marL="0">
              <a:lnSpc>
                <a:spcPct val="104000"/>
              </a:lnSpc>
              <a:buNone/>
            </a:pPr>
            <a:r>
              <a:rPr lang="en-US" sz="1600" dirty="0">
                <a:solidFill>
                  <a:srgbClr val="FFFFFF"/>
                </a:solidFill>
                <a:latin typeface="Inter Light" pitchFamily="34" charset="0"/>
                <a:ea typeface="Inter Light" pitchFamily="34" charset="-122"/>
                <a:cs typeface="Inter Light" pitchFamily="34" charset="-120"/>
              </a:rPr>
              <a:t>Swift no Servidor: Com frameworks como </a:t>
            </a:r>
            <a:r>
              <a:rPr lang="en-US" sz="1500" b="1" dirty="0">
                <a:solidFill>
                  <a:srgbClr val="FFFFFF"/>
                </a:solidFill>
                <a:latin typeface="Inter Bold" pitchFamily="34" charset="0"/>
                <a:ea typeface="Inter Bold" pitchFamily="34" charset="-122"/>
                <a:cs typeface="Inter Bold" pitchFamily="34" charset="-120"/>
              </a:rPr>
              <a:t>Vapor</a:t>
            </a:r>
            <a:r>
              <a:rPr lang="en-US" sz="1600" dirty="0">
                <a:solidFill>
                  <a:srgbClr val="FFFFFF"/>
                </a:solidFill>
                <a:latin typeface="Inter Light" pitchFamily="34" charset="0"/>
                <a:ea typeface="Inter Light" pitchFamily="34" charset="-122"/>
                <a:cs typeface="Inter Light" pitchFamily="34" charset="-120"/>
              </a:rPr>
              <a:t>, você constrói APIs robustas e </a:t>
            </a:r>
            <a:r>
              <a:rPr lang="en-US" sz="1600" dirty="0">
                <a:solidFill>
                  <a:srgbClr val="FFFFFF"/>
                </a:solidFill>
                <a:latin typeface="Inter Light" pitchFamily="34" charset="0"/>
                <a:ea typeface="Inter Light" pitchFamily="34" charset="-122"/>
                <a:cs typeface="Inter Light" pitchFamily="34" charset="-120"/>
              </a:rPr>
              <a:t>performáticas no Backend.</a:t>
            </a:r>
            <a:endParaRPr lang="en-US" sz="1600" dirty="0"/>
          </a:p>
        </p:txBody>
      </p:sp>
      <p:sp>
        <p:nvSpPr>
          <p:cNvPr id="23" name="Text 14"/>
          <p:cNvSpPr/>
          <p:nvPr/>
        </p:nvSpPr>
        <p:spPr>
          <a:xfrm>
            <a:off x="151805" y="3205522"/>
            <a:ext cx="5563195" cy="276820"/>
          </a:xfrm>
          <a:prstGeom prst="rect">
            <a:avLst/>
          </a:prstGeom>
          <a:noFill/>
          <a:ln/>
        </p:spPr>
        <p:txBody>
          <a:bodyPr wrap="square" lIns="0" tIns="0" rIns="0" bIns="0" rtlCol="0" anchor="t">
            <a:spAutoFit/>
          </a:bodyPr>
          <a:lstStyle/>
          <a:p>
            <a:pPr algn="l" indent="0" marL="0">
              <a:buNone/>
            </a:pPr>
            <a:r>
              <a:rPr lang="en-US" sz="1600" b="1" i="1" dirty="0">
                <a:solidFill>
                  <a:srgbClr val="F05138"/>
                </a:solidFill>
                <a:latin typeface="Inter Bold" pitchFamily="34" charset="0"/>
                <a:ea typeface="Inter Bold" pitchFamily="34" charset="-122"/>
                <a:cs typeface="Inter Bold" pitchFamily="34" charset="-120"/>
              </a:rPr>
              <a:t>“Se tem uma maçã estampada, dá pra usar Swift.”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000125"/>
            <a:ext cx="8001000"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CARREIRA E MERCADO</a:t>
            </a:r>
            <a:endParaRPr lang="en-US" sz="3300" dirty="0"/>
          </a:p>
        </p:txBody>
      </p:sp>
      <p:pic>
        <p:nvPicPr>
          <p:cNvPr id="5" name="Image 1" descr="preencoded.png">    </p:cNvPr>
          <p:cNvPicPr>
            <a:picLocks noChangeAspect="1"/>
          </p:cNvPicPr>
          <p:nvPr/>
        </p:nvPicPr>
        <p:blipFill>
          <a:blip r:embed="rId2"/>
          <a:stretch>
            <a:fillRect/>
          </a:stretch>
        </p:blipFill>
        <p:spPr>
          <a:xfrm>
            <a:off x="571500" y="1785938"/>
            <a:ext cx="242888" cy="242888"/>
          </a:xfrm>
          <a:prstGeom prst="rect">
            <a:avLst/>
          </a:prstGeom>
        </p:spPr>
      </p:pic>
      <p:sp>
        <p:nvSpPr>
          <p:cNvPr id="6" name="Text 1"/>
          <p:cNvSpPr/>
          <p:nvPr/>
        </p:nvSpPr>
        <p:spPr>
          <a:xfrm>
            <a:off x="957263" y="1746647"/>
            <a:ext cx="1757363" cy="321469"/>
          </a:xfrm>
          <a:prstGeom prst="rect">
            <a:avLst/>
          </a:prstGeom>
          <a:noFill/>
          <a:ln/>
        </p:spPr>
        <p:txBody>
          <a:bodyPr wrap="square" lIns="0" tIns="0" rIns="0" bIns="0" rtlCol="0" anchor="t">
            <a:spAutoFit/>
          </a:bodyPr>
          <a:lstStyle/>
          <a:p>
            <a:pPr algn="l" indent="0" marL="0">
              <a:buNone/>
            </a:pPr>
            <a:r>
              <a:rPr lang="en-US" sz="1700" b="1" dirty="0">
                <a:solidFill>
                  <a:srgbClr val="F05138"/>
                </a:solidFill>
                <a:latin typeface="JetBrains Mono Bold" pitchFamily="34" charset="0"/>
                <a:ea typeface="JetBrains Mono Bold" pitchFamily="34" charset="-122"/>
                <a:cs typeface="JetBrains Mono Bold" pitchFamily="34" charset="-120"/>
              </a:rPr>
              <a:t>Alta Demanda</a:t>
            </a:r>
            <a:endParaRPr lang="en-US" sz="1700" dirty="0"/>
          </a:p>
        </p:txBody>
      </p:sp>
      <p:sp>
        <p:nvSpPr>
          <p:cNvPr id="7" name="Text 2"/>
          <p:cNvSpPr/>
          <p:nvPr/>
        </p:nvSpPr>
        <p:spPr>
          <a:xfrm>
            <a:off x="571500" y="2175272"/>
            <a:ext cx="3786188" cy="482873"/>
          </a:xfrm>
          <a:prstGeom prst="rect">
            <a:avLst/>
          </a:prstGeom>
          <a:noFill/>
          <a:ln/>
        </p:spPr>
        <p:txBody>
          <a:bodyPr wrap="square" lIns="0" tIns="0" rIns="0" bIns="0" rtlCol="0" anchor="t">
            <a:spAutoFit/>
          </a:bodyPr>
          <a:lstStyle/>
          <a:p>
            <a:pPr algn="l" indent="0" marL="0">
              <a:lnSpc>
                <a:spcPct val="104000"/>
              </a:lnSpc>
              <a:buNone/>
            </a:pPr>
            <a:r>
              <a:rPr lang="en-US" sz="1400" dirty="0">
                <a:solidFill>
                  <a:srgbClr val="000000"/>
                </a:solidFill>
                <a:latin typeface="Inter Light" pitchFamily="34" charset="0"/>
                <a:ea typeface="Inter Light" pitchFamily="34" charset="-122"/>
                <a:cs typeface="Inter Light" pitchFamily="34" charset="-120"/>
              </a:rPr>
              <a:t>Empresas buscam especialistas para criar experiências nativas de alta qualidade.</a:t>
            </a:r>
            <a:endParaRPr lang="en-US" sz="1400" dirty="0"/>
          </a:p>
        </p:txBody>
      </p:sp>
      <p:pic>
        <p:nvPicPr>
          <p:cNvPr id="8" name="Image 2" descr="preencoded.png">    </p:cNvPr>
          <p:cNvPicPr>
            <a:picLocks noChangeAspect="1"/>
          </p:cNvPicPr>
          <p:nvPr/>
        </p:nvPicPr>
        <p:blipFill>
          <a:blip r:embed="rId3"/>
          <a:stretch>
            <a:fillRect/>
          </a:stretch>
        </p:blipFill>
        <p:spPr>
          <a:xfrm>
            <a:off x="571500" y="2826023"/>
            <a:ext cx="273248" cy="242888"/>
          </a:xfrm>
          <a:prstGeom prst="rect">
            <a:avLst/>
          </a:prstGeom>
        </p:spPr>
      </p:pic>
      <p:sp>
        <p:nvSpPr>
          <p:cNvPr id="9" name="Text 3"/>
          <p:cNvSpPr/>
          <p:nvPr/>
        </p:nvSpPr>
        <p:spPr>
          <a:xfrm>
            <a:off x="987623" y="2786732"/>
            <a:ext cx="1171575" cy="321469"/>
          </a:xfrm>
          <a:prstGeom prst="rect">
            <a:avLst/>
          </a:prstGeom>
          <a:noFill/>
          <a:ln/>
        </p:spPr>
        <p:txBody>
          <a:bodyPr wrap="none" lIns="0" tIns="0" rIns="0" bIns="0" rtlCol="0" anchor="t">
            <a:spAutoFit/>
          </a:bodyPr>
          <a:lstStyle/>
          <a:p>
            <a:pPr algn="l" indent="0" marL="0">
              <a:buNone/>
            </a:pPr>
            <a:r>
              <a:rPr lang="en-US" sz="1700" b="1" dirty="0">
                <a:solidFill>
                  <a:srgbClr val="F05138"/>
                </a:solidFill>
                <a:latin typeface="JetBrains Mono Bold" pitchFamily="34" charset="0"/>
                <a:ea typeface="JetBrains Mono Bold" pitchFamily="34" charset="-122"/>
                <a:cs typeface="JetBrains Mono Bold" pitchFamily="34" charset="-120"/>
              </a:rPr>
              <a:t>Salários</a:t>
            </a:r>
            <a:endParaRPr lang="en-US" sz="1700" dirty="0"/>
          </a:p>
        </p:txBody>
      </p:sp>
      <p:sp>
        <p:nvSpPr>
          <p:cNvPr id="10" name="Text 4"/>
          <p:cNvSpPr/>
          <p:nvPr/>
        </p:nvSpPr>
        <p:spPr>
          <a:xfrm>
            <a:off x="571500" y="3215357"/>
            <a:ext cx="3786188" cy="482873"/>
          </a:xfrm>
          <a:prstGeom prst="rect">
            <a:avLst/>
          </a:prstGeom>
          <a:noFill/>
          <a:ln/>
        </p:spPr>
        <p:txBody>
          <a:bodyPr wrap="square" lIns="0" tIns="0" rIns="0" bIns="0" rtlCol="0" anchor="t">
            <a:spAutoFit/>
          </a:bodyPr>
          <a:lstStyle/>
          <a:p>
            <a:pPr algn="l" indent="0" marL="0">
              <a:lnSpc>
                <a:spcPct val="104000"/>
              </a:lnSpc>
              <a:buNone/>
            </a:pPr>
            <a:r>
              <a:rPr lang="en-US" sz="1400" dirty="0">
                <a:solidFill>
                  <a:srgbClr val="000000"/>
                </a:solidFill>
                <a:latin typeface="Inter Light" pitchFamily="34" charset="0"/>
                <a:ea typeface="Inter Light" pitchFamily="34" charset="-122"/>
                <a:cs typeface="Inter Light" pitchFamily="34" charset="-120"/>
              </a:rPr>
              <a:t>Os salários para desenvolvedores Swift costumam ser altamente competitivos.</a:t>
            </a:r>
            <a:endParaRPr lang="en-US" sz="1400" dirty="0"/>
          </a:p>
        </p:txBody>
      </p:sp>
      <p:pic>
        <p:nvPicPr>
          <p:cNvPr id="11" name="Image 3" descr="preencoded.png">    </p:cNvPr>
          <p:cNvPicPr>
            <a:picLocks noChangeAspect="1"/>
          </p:cNvPicPr>
          <p:nvPr/>
        </p:nvPicPr>
        <p:blipFill>
          <a:blip r:embed="rId4"/>
          <a:stretch>
            <a:fillRect/>
          </a:stretch>
        </p:blipFill>
        <p:spPr>
          <a:xfrm>
            <a:off x="4786313" y="1785938"/>
            <a:ext cx="242888" cy="242888"/>
          </a:xfrm>
          <a:prstGeom prst="rect">
            <a:avLst/>
          </a:prstGeom>
        </p:spPr>
      </p:pic>
      <p:sp>
        <p:nvSpPr>
          <p:cNvPr id="12" name="Text 5"/>
          <p:cNvSpPr/>
          <p:nvPr/>
        </p:nvSpPr>
        <p:spPr>
          <a:xfrm>
            <a:off x="5172075" y="1746647"/>
            <a:ext cx="1610916" cy="321469"/>
          </a:xfrm>
          <a:prstGeom prst="rect">
            <a:avLst/>
          </a:prstGeom>
          <a:noFill/>
          <a:ln/>
        </p:spPr>
        <p:txBody>
          <a:bodyPr wrap="square" lIns="0" tIns="0" rIns="0" bIns="0" rtlCol="0" anchor="t">
            <a:spAutoFit/>
          </a:bodyPr>
          <a:lstStyle/>
          <a:p>
            <a:pPr algn="l" indent="0" marL="0">
              <a:buNone/>
            </a:pPr>
            <a:r>
              <a:rPr lang="en-US" sz="1700" b="1" dirty="0">
                <a:solidFill>
                  <a:srgbClr val="F05138"/>
                </a:solidFill>
                <a:latin typeface="JetBrains Mono Bold" pitchFamily="34" charset="0"/>
                <a:ea typeface="JetBrains Mono Bold" pitchFamily="34" charset="-122"/>
                <a:cs typeface="JetBrains Mono Bold" pitchFamily="34" charset="-120"/>
              </a:rPr>
              <a:t>Ferramentas</a:t>
            </a:r>
            <a:endParaRPr lang="en-US" sz="1700" dirty="0"/>
          </a:p>
        </p:txBody>
      </p:sp>
      <p:sp>
        <p:nvSpPr>
          <p:cNvPr id="13" name="Text 6"/>
          <p:cNvSpPr/>
          <p:nvPr/>
        </p:nvSpPr>
        <p:spPr>
          <a:xfrm>
            <a:off x="4786313" y="2175272"/>
            <a:ext cx="3786188" cy="482873"/>
          </a:xfrm>
          <a:prstGeom prst="rect">
            <a:avLst/>
          </a:prstGeom>
          <a:noFill/>
          <a:ln/>
        </p:spPr>
        <p:txBody>
          <a:bodyPr wrap="square" lIns="0" tIns="0" rIns="0" bIns="0" rtlCol="0" anchor="t">
            <a:spAutoFit/>
          </a:bodyPr>
          <a:lstStyle/>
          <a:p>
            <a:pPr algn="l" indent="0" marL="0">
              <a:lnSpc>
                <a:spcPct val="104000"/>
              </a:lnSpc>
              <a:buNone/>
            </a:pPr>
            <a:r>
              <a:rPr lang="en-US" sz="1400" dirty="0">
                <a:solidFill>
                  <a:srgbClr val="000000"/>
                </a:solidFill>
                <a:latin typeface="Inter Light" pitchFamily="34" charset="0"/>
                <a:ea typeface="Inter Light" pitchFamily="34" charset="-122"/>
                <a:cs typeface="Inter Light" pitchFamily="34" charset="-120"/>
              </a:rPr>
              <a:t>O Xcode é a central de comando poderosa para design, código e testes.</a:t>
            </a:r>
            <a:endParaRPr lang="en-US" sz="1400" dirty="0"/>
          </a:p>
        </p:txBody>
      </p:sp>
      <p:pic>
        <p:nvPicPr>
          <p:cNvPr id="14" name="Image 4" descr="preencoded.png">    </p:cNvPr>
          <p:cNvPicPr>
            <a:picLocks noChangeAspect="1"/>
          </p:cNvPicPr>
          <p:nvPr/>
        </p:nvPicPr>
        <p:blipFill>
          <a:blip r:embed="rId5"/>
          <a:stretch>
            <a:fillRect/>
          </a:stretch>
        </p:blipFill>
        <p:spPr>
          <a:xfrm>
            <a:off x="4786313" y="2826023"/>
            <a:ext cx="303609" cy="242888"/>
          </a:xfrm>
          <a:prstGeom prst="rect">
            <a:avLst/>
          </a:prstGeom>
        </p:spPr>
      </p:pic>
      <p:sp>
        <p:nvSpPr>
          <p:cNvPr id="15" name="Text 7"/>
          <p:cNvSpPr/>
          <p:nvPr/>
        </p:nvSpPr>
        <p:spPr>
          <a:xfrm>
            <a:off x="5232797" y="2786732"/>
            <a:ext cx="1464469" cy="321469"/>
          </a:xfrm>
          <a:prstGeom prst="rect">
            <a:avLst/>
          </a:prstGeom>
          <a:noFill/>
          <a:ln/>
        </p:spPr>
        <p:txBody>
          <a:bodyPr wrap="square" lIns="0" tIns="0" rIns="0" bIns="0" rtlCol="0" anchor="t">
            <a:spAutoFit/>
          </a:bodyPr>
          <a:lstStyle/>
          <a:p>
            <a:pPr algn="l" indent="0" marL="0">
              <a:buNone/>
            </a:pPr>
            <a:r>
              <a:rPr lang="en-US" sz="1700" b="1" dirty="0">
                <a:solidFill>
                  <a:srgbClr val="F05138"/>
                </a:solidFill>
                <a:latin typeface="JetBrains Mono Bold" pitchFamily="34" charset="0"/>
                <a:ea typeface="JetBrains Mono Bold" pitchFamily="34" charset="-122"/>
                <a:cs typeface="JetBrains Mono Bold" pitchFamily="34" charset="-120"/>
              </a:rPr>
              <a:t>Comunidade</a:t>
            </a:r>
            <a:endParaRPr lang="en-US" sz="1700" dirty="0"/>
          </a:p>
        </p:txBody>
      </p:sp>
      <p:sp>
        <p:nvSpPr>
          <p:cNvPr id="16" name="Text 8"/>
          <p:cNvSpPr/>
          <p:nvPr/>
        </p:nvSpPr>
        <p:spPr>
          <a:xfrm>
            <a:off x="4786313" y="3215357"/>
            <a:ext cx="3786188" cy="724309"/>
          </a:xfrm>
          <a:prstGeom prst="rect">
            <a:avLst/>
          </a:prstGeom>
          <a:noFill/>
          <a:ln/>
        </p:spPr>
        <p:txBody>
          <a:bodyPr wrap="square" lIns="0" tIns="0" rIns="0" bIns="0" rtlCol="0" anchor="t">
            <a:spAutoFit/>
          </a:bodyPr>
          <a:lstStyle/>
          <a:p>
            <a:pPr algn="l" indent="0" marL="0">
              <a:lnSpc>
                <a:spcPct val="104000"/>
              </a:lnSpc>
              <a:buNone/>
            </a:pPr>
            <a:r>
              <a:rPr lang="en-US" sz="1400" dirty="0">
                <a:solidFill>
                  <a:srgbClr val="000000"/>
                </a:solidFill>
                <a:latin typeface="Inter Light" pitchFamily="34" charset="0"/>
                <a:ea typeface="Inter Light" pitchFamily="34" charset="-122"/>
                <a:cs typeface="Inter Light" pitchFamily="34" charset="-120"/>
              </a:rPr>
              <a:t>Documentação de primeira classe e uma comunidade vibrante focada em performance.</a:t>
            </a:r>
            <a:endParaRPr lang="en-US" sz="1400" dirty="0"/>
          </a:p>
        </p:txBody>
      </p:sp>
      <p:sp>
        <p:nvSpPr>
          <p:cNvPr id="17" name="Text 9"/>
          <p:cNvSpPr/>
          <p:nvPr/>
        </p:nvSpPr>
        <p:spPr>
          <a:xfrm>
            <a:off x="571500" y="4153979"/>
            <a:ext cx="5715000" cy="157163"/>
          </a:xfrm>
          <a:prstGeom prst="rect">
            <a:avLst/>
          </a:prstGeom>
          <a:noFill/>
          <a:ln/>
        </p:spPr>
        <p:txBody>
          <a:bodyPr wrap="square" lIns="0" tIns="136017" rIns="0" bIns="0" rtlCol="0" anchor="t">
            <a:spAutoFit/>
          </a:bodyPr>
          <a:lstStyle/>
          <a:p>
            <a:pPr algn="l"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633586" y="227358"/>
            <a:ext cx="3919742" cy="603647"/>
          </a:xfrm>
          <a:prstGeom prst="rect">
            <a:avLst/>
          </a:prstGeom>
          <a:noFill/>
          <a:ln/>
        </p:spPr>
        <p:txBody>
          <a:bodyPr wrap="square" lIns="0" tIns="0" rIns="0" bIns="0" rtlCol="0" anchor="t">
            <a:spAutoFit/>
          </a:bodyPr>
          <a:lstStyle/>
          <a:p>
            <a:pPr algn="l" indent="0" marL="0">
              <a:buNone/>
            </a:pPr>
            <a:r>
              <a:rPr lang="en-US" sz="3300" b="1" dirty="0">
                <a:solidFill>
                  <a:srgbClr val="000000"/>
                </a:solidFill>
                <a:latin typeface="JetBrains Mono Bold" pitchFamily="34" charset="0"/>
                <a:ea typeface="JetBrains Mono Bold" pitchFamily="34" charset="-122"/>
                <a:cs typeface="JetBrains Mono Bold" pitchFamily="34" charset="-120"/>
              </a:rPr>
              <a:t>O PESO DA MAÇÃ</a:t>
            </a:r>
            <a:endParaRPr lang="en-US" sz="3300" dirty="0"/>
          </a:p>
        </p:txBody>
      </p:sp>
      <p:sp>
        <p:nvSpPr>
          <p:cNvPr id="5" name="Shape 1"/>
          <p:cNvSpPr/>
          <p:nvPr/>
        </p:nvSpPr>
        <p:spPr>
          <a:xfrm>
            <a:off x="571500" y="1532334"/>
            <a:ext cx="8001000" cy="1925910"/>
          </a:xfrm>
          <a:prstGeom prst="rect">
            <a:avLst/>
          </a:prstGeom>
          <a:solidFill>
            <a:srgbClr val="000000"/>
          </a:solidFill>
          <a:ln w="45720">
            <a:solidFill>
              <a:srgbClr val="000000"/>
            </a:solidFill>
            <a:prstDash val="solid"/>
          </a:ln>
        </p:spPr>
      </p:sp>
      <p:sp>
        <p:nvSpPr>
          <p:cNvPr id="6" name="Shape 2"/>
          <p:cNvSpPr/>
          <p:nvPr/>
        </p:nvSpPr>
        <p:spPr>
          <a:xfrm>
            <a:off x="571500" y="1532334"/>
            <a:ext cx="3979069" cy="1840185"/>
          </a:xfrm>
          <a:prstGeom prst="rect">
            <a:avLst/>
          </a:prstGeom>
          <a:solidFill>
            <a:srgbClr val="F2F2F7"/>
          </a:solidFill>
          <a:ln/>
        </p:spPr>
      </p:sp>
      <p:sp>
        <p:nvSpPr>
          <p:cNvPr id="7" name="Shape 3"/>
          <p:cNvSpPr/>
          <p:nvPr/>
        </p:nvSpPr>
        <p:spPr>
          <a:xfrm>
            <a:off x="571500" y="1532334"/>
            <a:ext cx="3979069" cy="571500"/>
          </a:xfrm>
          <a:prstGeom prst="rect">
            <a:avLst/>
          </a:prstGeom>
          <a:solidFill>
            <a:srgbClr val="000000"/>
          </a:solidFill>
          <a:ln/>
        </p:spPr>
      </p:sp>
      <p:sp>
        <p:nvSpPr>
          <p:cNvPr id="8" name="Text 4"/>
          <p:cNvSpPr/>
          <p:nvPr/>
        </p:nvSpPr>
        <p:spPr>
          <a:xfrm>
            <a:off x="571500" y="1532334"/>
            <a:ext cx="3979069" cy="571500"/>
          </a:xfrm>
          <a:prstGeom prst="rect">
            <a:avLst/>
          </a:prstGeom>
          <a:noFill/>
          <a:ln/>
        </p:spPr>
        <p:txBody>
          <a:bodyPr wrap="square" lIns="255143" tIns="170053" rIns="0" bIns="0" rtlCol="0" anchor="t">
            <a:spAutoFit/>
          </a:bodyPr>
          <a:lstStyle/>
          <a:p>
            <a:pPr algn="l" indent="0" marL="0">
              <a:buNone/>
            </a:pPr>
            <a:r>
              <a:rPr lang="en-US" sz="1800" b="1" dirty="0">
                <a:solidFill>
                  <a:srgbClr val="FF9500"/>
                </a:solidFill>
                <a:latin typeface="JetBrains Mono Bold" pitchFamily="34" charset="0"/>
                <a:ea typeface="JetBrains Mono Bold" pitchFamily="34" charset="-122"/>
                <a:cs typeface="JetBrains Mono Bold" pitchFamily="34" charset="-120"/>
              </a:rPr>
              <a:t>VANTAGENS</a:t>
            </a:r>
            <a:endParaRPr lang="en-US" sz="1800" dirty="0"/>
          </a:p>
        </p:txBody>
      </p:sp>
      <p:pic>
        <p:nvPicPr>
          <p:cNvPr id="9" name="Image 1" descr="preencoded.png">    </p:cNvPr>
          <p:cNvPicPr>
            <a:picLocks noChangeAspect="1"/>
          </p:cNvPicPr>
          <p:nvPr/>
        </p:nvPicPr>
        <p:blipFill>
          <a:blip r:embed="rId2"/>
          <a:stretch>
            <a:fillRect/>
          </a:stretch>
        </p:blipFill>
        <p:spPr>
          <a:xfrm>
            <a:off x="785813" y="2218134"/>
            <a:ext cx="200025" cy="242888"/>
          </a:xfrm>
          <a:prstGeom prst="rect">
            <a:avLst/>
          </a:prstGeom>
        </p:spPr>
      </p:pic>
      <p:sp>
        <p:nvSpPr>
          <p:cNvPr id="10" name="Text 5"/>
          <p:cNvSpPr/>
          <p:nvPr/>
        </p:nvSpPr>
        <p:spPr>
          <a:xfrm>
            <a:off x="1128713" y="2218134"/>
            <a:ext cx="32075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Performance:</a:t>
            </a:r>
            <a:r>
              <a:rPr lang="en-US" sz="1500" dirty="0">
                <a:solidFill>
                  <a:srgbClr val="000000"/>
                </a:solidFill>
                <a:latin typeface="Inter Light" pitchFamily="34" charset="0"/>
                <a:ea typeface="Inter Light" pitchFamily="34" charset="-122"/>
                <a:cs typeface="Inter Light" pitchFamily="34" charset="-120"/>
              </a:rPr>
              <a:t> Velocidade nativa </a:t>
            </a:r>
            <a:r>
              <a:rPr lang="en-US" sz="1500" dirty="0">
                <a:solidFill>
                  <a:srgbClr val="000000"/>
                </a:solidFill>
                <a:latin typeface="Inter Light" pitchFamily="34" charset="0"/>
                <a:ea typeface="Inter Light" pitchFamily="34" charset="-122"/>
                <a:cs typeface="Inter Light" pitchFamily="34" charset="-120"/>
              </a:rPr>
              <a:t>compilada.</a:t>
            </a:r>
            <a:endParaRPr lang="en-US" sz="1400" dirty="0"/>
          </a:p>
        </p:txBody>
      </p:sp>
      <p:pic>
        <p:nvPicPr>
          <p:cNvPr id="11" name="Image 2" descr="preencoded.png">    </p:cNvPr>
          <p:cNvPicPr>
            <a:picLocks noChangeAspect="1"/>
          </p:cNvPicPr>
          <p:nvPr/>
        </p:nvPicPr>
        <p:blipFill>
          <a:blip r:embed="rId3"/>
          <a:stretch>
            <a:fillRect/>
          </a:stretch>
        </p:blipFill>
        <p:spPr>
          <a:xfrm>
            <a:off x="785813" y="2852477"/>
            <a:ext cx="200025" cy="242888"/>
          </a:xfrm>
          <a:prstGeom prst="rect">
            <a:avLst/>
          </a:prstGeom>
        </p:spPr>
      </p:pic>
      <p:sp>
        <p:nvSpPr>
          <p:cNvPr id="12" name="Text 6"/>
          <p:cNvSpPr/>
          <p:nvPr/>
        </p:nvSpPr>
        <p:spPr>
          <a:xfrm>
            <a:off x="1128713" y="2852477"/>
            <a:ext cx="32075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Segurança:</a:t>
            </a:r>
            <a:r>
              <a:rPr lang="en-US" sz="1500" dirty="0">
                <a:solidFill>
                  <a:srgbClr val="000000"/>
                </a:solidFill>
                <a:latin typeface="Inter Light" pitchFamily="34" charset="0"/>
                <a:ea typeface="Inter Light" pitchFamily="34" charset="-122"/>
                <a:cs typeface="Inter Light" pitchFamily="34" charset="-120"/>
              </a:rPr>
              <a:t> Menos crashes de </a:t>
            </a:r>
            <a:r>
              <a:rPr lang="en-US" sz="1500" dirty="0">
                <a:solidFill>
                  <a:srgbClr val="000000"/>
                </a:solidFill>
                <a:latin typeface="Inter Light" pitchFamily="34" charset="0"/>
                <a:ea typeface="Inter Light" pitchFamily="34" charset="-122"/>
                <a:cs typeface="Inter Light" pitchFamily="34" charset="-120"/>
              </a:rPr>
              <a:t>memória.</a:t>
            </a:r>
            <a:endParaRPr lang="en-US" sz="1400" dirty="0"/>
          </a:p>
        </p:txBody>
      </p:sp>
      <p:sp>
        <p:nvSpPr>
          <p:cNvPr id="13" name="Shape 7"/>
          <p:cNvSpPr/>
          <p:nvPr/>
        </p:nvSpPr>
        <p:spPr>
          <a:xfrm>
            <a:off x="4593431" y="1532334"/>
            <a:ext cx="3979069" cy="1840185"/>
          </a:xfrm>
          <a:prstGeom prst="rect">
            <a:avLst/>
          </a:prstGeom>
          <a:solidFill>
            <a:srgbClr val="F2F2F7"/>
          </a:solidFill>
          <a:ln/>
        </p:spPr>
      </p:sp>
      <p:sp>
        <p:nvSpPr>
          <p:cNvPr id="14" name="Shape 8"/>
          <p:cNvSpPr/>
          <p:nvPr/>
        </p:nvSpPr>
        <p:spPr>
          <a:xfrm>
            <a:off x="4593431" y="1532334"/>
            <a:ext cx="3979069" cy="571500"/>
          </a:xfrm>
          <a:prstGeom prst="rect">
            <a:avLst/>
          </a:prstGeom>
          <a:solidFill>
            <a:srgbClr val="000000"/>
          </a:solidFill>
          <a:ln/>
        </p:spPr>
      </p:sp>
      <p:sp>
        <p:nvSpPr>
          <p:cNvPr id="15" name="Text 9"/>
          <p:cNvSpPr/>
          <p:nvPr/>
        </p:nvSpPr>
        <p:spPr>
          <a:xfrm>
            <a:off x="4593431" y="1532334"/>
            <a:ext cx="3979069" cy="571500"/>
          </a:xfrm>
          <a:prstGeom prst="rect">
            <a:avLst/>
          </a:prstGeom>
          <a:noFill/>
          <a:ln/>
        </p:spPr>
        <p:txBody>
          <a:bodyPr wrap="square" lIns="255143" tIns="170053" rIns="0" bIns="0" rtlCol="0" anchor="t">
            <a:spAutoFit/>
          </a:bodyPr>
          <a:lstStyle/>
          <a:p>
            <a:pPr algn="l" indent="0" marL="0">
              <a:buNone/>
            </a:pPr>
            <a:r>
              <a:rPr lang="en-US" sz="1800" b="1" dirty="0">
                <a:solidFill>
                  <a:srgbClr val="F05138"/>
                </a:solidFill>
                <a:latin typeface="JetBrains Mono Bold" pitchFamily="34" charset="0"/>
                <a:ea typeface="JetBrains Mono Bold" pitchFamily="34" charset="-122"/>
                <a:cs typeface="JetBrains Mono Bold" pitchFamily="34" charset="-120"/>
              </a:rPr>
              <a:t>DESVANTAGENS</a:t>
            </a:r>
            <a:endParaRPr lang="en-US" sz="1800" dirty="0"/>
          </a:p>
        </p:txBody>
      </p:sp>
      <p:pic>
        <p:nvPicPr>
          <p:cNvPr id="16" name="Image 3" descr="preencoded.png">    </p:cNvPr>
          <p:cNvPicPr>
            <a:picLocks noChangeAspect="1"/>
          </p:cNvPicPr>
          <p:nvPr/>
        </p:nvPicPr>
        <p:blipFill>
          <a:blip r:embed="rId4"/>
          <a:stretch>
            <a:fillRect/>
          </a:stretch>
        </p:blipFill>
        <p:spPr>
          <a:xfrm>
            <a:off x="4807744" y="2218134"/>
            <a:ext cx="200025" cy="242888"/>
          </a:xfrm>
          <a:prstGeom prst="rect">
            <a:avLst/>
          </a:prstGeom>
        </p:spPr>
      </p:pic>
      <p:sp>
        <p:nvSpPr>
          <p:cNvPr id="17" name="Text 10"/>
          <p:cNvSpPr/>
          <p:nvPr/>
        </p:nvSpPr>
        <p:spPr>
          <a:xfrm>
            <a:off x="5150644" y="2218134"/>
            <a:ext cx="32075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Ecosistema:</a:t>
            </a:r>
            <a:r>
              <a:rPr lang="en-US" sz="1500" dirty="0">
                <a:solidFill>
                  <a:srgbClr val="000000"/>
                </a:solidFill>
                <a:latin typeface="Inter Light" pitchFamily="34" charset="0"/>
                <a:ea typeface="Inter Light" pitchFamily="34" charset="-122"/>
                <a:cs typeface="Inter Light" pitchFamily="34" charset="-120"/>
              </a:rPr>
              <a:t> Preso ao hardware </a:t>
            </a:r>
            <a:r>
              <a:rPr lang="en-US" sz="1500" dirty="0">
                <a:solidFill>
                  <a:srgbClr val="000000"/>
                </a:solidFill>
                <a:latin typeface="Inter Light" pitchFamily="34" charset="0"/>
                <a:ea typeface="Inter Light" pitchFamily="34" charset="-122"/>
                <a:cs typeface="Inter Light" pitchFamily="34" charset="-120"/>
              </a:rPr>
              <a:t>Apple.</a:t>
            </a:r>
            <a:endParaRPr lang="en-US" sz="1400" dirty="0"/>
          </a:p>
        </p:txBody>
      </p:sp>
      <p:pic>
        <p:nvPicPr>
          <p:cNvPr id="18" name="Image 4" descr="preencoded.png">    </p:cNvPr>
          <p:cNvPicPr>
            <a:picLocks noChangeAspect="1"/>
          </p:cNvPicPr>
          <p:nvPr/>
        </p:nvPicPr>
        <p:blipFill>
          <a:blip r:embed="rId5"/>
          <a:stretch>
            <a:fillRect/>
          </a:stretch>
        </p:blipFill>
        <p:spPr>
          <a:xfrm>
            <a:off x="4807744" y="2852477"/>
            <a:ext cx="200025" cy="242888"/>
          </a:xfrm>
          <a:prstGeom prst="rect">
            <a:avLst/>
          </a:prstGeom>
        </p:spPr>
      </p:pic>
      <p:sp>
        <p:nvSpPr>
          <p:cNvPr id="19" name="Text 11"/>
          <p:cNvSpPr/>
          <p:nvPr/>
        </p:nvSpPr>
        <p:spPr>
          <a:xfrm>
            <a:off x="5150644" y="2852477"/>
            <a:ext cx="3207544" cy="520043"/>
          </a:xfrm>
          <a:prstGeom prst="rect">
            <a:avLst/>
          </a:prstGeom>
          <a:noFill/>
          <a:ln/>
        </p:spPr>
        <p:txBody>
          <a:bodyPr wrap="square" lIns="0" tIns="0" rIns="0" bIns="0" rtlCol="0" anchor="t">
            <a:spAutoFit/>
          </a:bodyPr>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Custo:</a:t>
            </a:r>
            <a:r>
              <a:rPr lang="en-US" sz="1500" dirty="0">
                <a:solidFill>
                  <a:srgbClr val="000000"/>
                </a:solidFill>
                <a:latin typeface="Inter Light" pitchFamily="34" charset="0"/>
                <a:ea typeface="Inter Light" pitchFamily="34" charset="-122"/>
                <a:cs typeface="Inter Light" pitchFamily="34" charset="-120"/>
              </a:rPr>
              <a:t> Exige hardware caro para </a:t>
            </a:r>
            <a:r>
              <a:rPr lang="en-US" sz="1500" dirty="0">
                <a:solidFill>
                  <a:srgbClr val="000000"/>
                </a:solidFill>
                <a:latin typeface="Inter Light" pitchFamily="34" charset="0"/>
                <a:ea typeface="Inter Light" pitchFamily="34" charset="-122"/>
                <a:cs typeface="Inter Light" pitchFamily="34" charset="-120"/>
              </a:rPr>
              <a:t>começar.</a:t>
            </a:r>
            <a:endParaRPr lang="en-US" sz="1400" dirty="0"/>
          </a:p>
        </p:txBody>
      </p:sp>
      <p:sp>
        <p:nvSpPr>
          <p:cNvPr id="20" name="Shape 12"/>
          <p:cNvSpPr/>
          <p:nvPr/>
        </p:nvSpPr>
        <p:spPr>
          <a:xfrm>
            <a:off x="3571875" y="3515395"/>
            <a:ext cx="5000625" cy="867966"/>
          </a:xfrm>
          <a:prstGeom prst="rect">
            <a:avLst/>
          </a:prstGeom>
          <a:solidFill>
            <a:srgbClr val="FF9500"/>
          </a:solidFill>
          <a:ln w="45720">
            <a:solidFill>
              <a:srgbClr val="000000"/>
            </a:solidFill>
            <a:prstDash val="solid"/>
          </a:ln>
        </p:spPr>
      </p:sp>
      <p:sp>
        <p:nvSpPr>
          <p:cNvPr id="21" name="Text 13"/>
          <p:cNvSpPr/>
          <p:nvPr/>
        </p:nvSpPr>
        <p:spPr>
          <a:xfrm>
            <a:off x="3686175" y="3629695"/>
            <a:ext cx="4772025" cy="553641"/>
          </a:xfrm>
          <a:prstGeom prst="rect">
            <a:avLst/>
          </a:prstGeom>
          <a:noFill/>
          <a:ln/>
        </p:spPr>
        <p:txBody>
          <a:bodyPr wrap="square" lIns="0" tIns="0" rIns="0" bIns="0" rtlCol="0" anchor="t">
            <a:spAutoFit/>
          </a:bodyPr>
          <a:lstStyle/>
          <a:p>
            <a:pPr algn="ctr" indent="0" marL="0">
              <a:buNone/>
            </a:pPr>
            <a:r>
              <a:rPr lang="en-US" sz="1600" b="1" i="1" dirty="0">
                <a:solidFill>
                  <a:srgbClr val="000000"/>
                </a:solidFill>
                <a:latin typeface="Inter Bold" pitchFamily="34" charset="0"/>
                <a:ea typeface="Inter Bold" pitchFamily="34" charset="-122"/>
                <a:cs typeface="Inter Bold" pitchFamily="34" charset="-120"/>
              </a:rPr>
              <a:t>“Swift é incrível. O preço do MacBook nem tanto.”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alphaModFix amt="90000"/>
          </a:blip>
          <a:stretch>
            <a:fillRect/>
          </a:stretch>
        </p:blipFill>
        <p:spPr>
          <a:xfrm>
            <a:off x="5099973" y="428625"/>
            <a:ext cx="3750469" cy="4286250"/>
          </a:xfrm>
          <a:prstGeom prst="rect">
            <a:avLst/>
          </a:prstGeom>
        </p:spPr>
      </p:pic>
      <p:sp>
        <p:nvSpPr>
          <p:cNvPr id="5" name="Text 0"/>
          <p:cNvSpPr/>
          <p:nvPr/>
        </p:nvSpPr>
        <p:spPr>
          <a:xfrm>
            <a:off x="591378" y="857250"/>
            <a:ext cx="5000625" cy="792956"/>
          </a:xfrm>
          <a:prstGeom prst="rect">
            <a:avLst/>
          </a:prstGeom>
          <a:noFill/>
          <a:ln/>
        </p:spPr>
        <p:txBody>
          <a:bodyPr wrap="square" lIns="0" tIns="0" rIns="0" bIns="0" rtlCol="0" anchor="t">
            <a:spAutoFit/>
          </a:bodyPr>
          <a:lstStyle/>
          <a:p>
            <a:pPr algn="l" indent="0" marL="0">
              <a:buNone/>
            </a:pPr>
            <a:r>
              <a:rPr lang="en-US" sz="4350" b="1" dirty="0">
                <a:solidFill>
                  <a:srgbClr val="000000"/>
                </a:solidFill>
                <a:latin typeface="JetBrains Mono Bold" pitchFamily="34" charset="0"/>
                <a:ea typeface="JetBrains Mono Bold" pitchFamily="34" charset="-122"/>
                <a:cs typeface="JetBrains Mono Bold" pitchFamily="34" charset="-120"/>
              </a:rPr>
              <a:t>CONCLUSÃO</a:t>
            </a:r>
            <a:endParaRPr lang="en-US" sz="4350" dirty="0"/>
          </a:p>
        </p:txBody>
      </p:sp>
      <p:sp>
        <p:nvSpPr>
          <p:cNvPr id="6" name="Text 1"/>
          <p:cNvSpPr/>
          <p:nvPr/>
        </p:nvSpPr>
        <p:spPr>
          <a:xfrm>
            <a:off x="591378" y="1935956"/>
            <a:ext cx="4385621" cy="1302953"/>
          </a:xfrm>
          <a:prstGeom prst="rect">
            <a:avLst/>
          </a:prstGeom>
          <a:noFill/>
          <a:ln/>
        </p:spPr>
        <p:txBody>
          <a:bodyPr wrap="square" lIns="340233" tIns="0" rIns="0" bIns="0" rtlCol="0" anchor="t">
            <a:spAutoFit/>
          </a:bodyPr>
          <a:lstStyle/>
          <a:p>
            <a:pPr algn="l" indent="0" marL="0">
              <a:lnSpc>
                <a:spcPct val="96000"/>
              </a:lnSpc>
              <a:buNone/>
            </a:pPr>
            <a:r>
              <a:rPr lang="en-US" sz="1900" b="1" dirty="0">
                <a:solidFill>
                  <a:srgbClr val="000000"/>
                </a:solidFill>
                <a:latin typeface="Inter Bold" pitchFamily="34" charset="0"/>
                <a:ea typeface="Inter Bold" pitchFamily="34" charset="-122"/>
                <a:cs typeface="Inter Bold" pitchFamily="34" charset="-120"/>
              </a:rPr>
              <a:t>Swift é poderosa, organizada e impede você de cometer crimes contra seu próprio código.</a:t>
            </a:r>
            <a:endParaRPr lang="en-US" sz="1900" dirty="0"/>
          </a:p>
        </p:txBody>
      </p:sp>
      <p:sp>
        <p:nvSpPr>
          <p:cNvPr id="7" name="Text 2"/>
          <p:cNvSpPr/>
          <p:nvPr/>
        </p:nvSpPr>
        <p:spPr>
          <a:xfrm>
            <a:off x="591378" y="3667534"/>
            <a:ext cx="2780705" cy="678656"/>
          </a:xfrm>
          <a:prstGeom prst="rect">
            <a:avLst/>
          </a:prstGeom>
          <a:noFill/>
          <a:ln/>
        </p:spPr>
        <p:txBody>
          <a:bodyPr wrap="square" lIns="0" tIns="0" rIns="0" bIns="0" rtlCol="0" anchor="t">
            <a:spAutoFit/>
          </a:bodyPr>
          <a:lstStyle/>
          <a:p>
            <a:pPr algn="l" indent="0" marL="0">
              <a:buNone/>
            </a:pPr>
            <a:r>
              <a:rPr lang="en-US" sz="3750" b="1" dirty="0">
                <a:solidFill>
                  <a:srgbClr val="000000"/>
                </a:solidFill>
                <a:latin typeface="JetBrains Mono Bold" pitchFamily="34" charset="0"/>
                <a:ea typeface="JetBrains Mono Bold" pitchFamily="34" charset="-122"/>
                <a:cs typeface="JetBrains Mono Bold" pitchFamily="34" charset="-120"/>
              </a:rPr>
              <a:t>OBRIGADO!</a:t>
            </a:r>
            <a:endParaRPr lang="en-US" sz="3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2026-05-17T16:49:29Z</dcterms:created>
  <dcterms:modified xsi:type="dcterms:W3CDTF">2026-05-17T16:49:29Z</dcterms:modified>
</cp:coreProperties>
</file>